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600">
        <a:latin typeface="+mj-lt"/>
        <a:ea typeface="+mj-ea"/>
        <a:cs typeface="+mj-cs"/>
        <a:sym typeface="Calibri"/>
      </a:defRPr>
    </a:lvl1pPr>
    <a:lvl2pPr indent="228600" latinLnBrk="0">
      <a:defRPr sz="1600">
        <a:latin typeface="+mj-lt"/>
        <a:ea typeface="+mj-ea"/>
        <a:cs typeface="+mj-cs"/>
        <a:sym typeface="Calibri"/>
      </a:defRPr>
    </a:lvl2pPr>
    <a:lvl3pPr indent="457200" latinLnBrk="0">
      <a:defRPr sz="1600">
        <a:latin typeface="+mj-lt"/>
        <a:ea typeface="+mj-ea"/>
        <a:cs typeface="+mj-cs"/>
        <a:sym typeface="Calibri"/>
      </a:defRPr>
    </a:lvl3pPr>
    <a:lvl4pPr indent="685800" latinLnBrk="0">
      <a:defRPr sz="1600">
        <a:latin typeface="+mj-lt"/>
        <a:ea typeface="+mj-ea"/>
        <a:cs typeface="+mj-cs"/>
        <a:sym typeface="Calibri"/>
      </a:defRPr>
    </a:lvl4pPr>
    <a:lvl5pPr indent="914400" latinLnBrk="0">
      <a:defRPr sz="1600">
        <a:latin typeface="+mj-lt"/>
        <a:ea typeface="+mj-ea"/>
        <a:cs typeface="+mj-cs"/>
        <a:sym typeface="Calibri"/>
      </a:defRPr>
    </a:lvl5pPr>
    <a:lvl6pPr indent="1143000" latinLnBrk="0">
      <a:defRPr sz="1600">
        <a:latin typeface="+mj-lt"/>
        <a:ea typeface="+mj-ea"/>
        <a:cs typeface="+mj-cs"/>
        <a:sym typeface="Calibri"/>
      </a:defRPr>
    </a:lvl6pPr>
    <a:lvl7pPr indent="1371600" latinLnBrk="0">
      <a:defRPr sz="1600">
        <a:latin typeface="+mj-lt"/>
        <a:ea typeface="+mj-ea"/>
        <a:cs typeface="+mj-cs"/>
        <a:sym typeface="Calibri"/>
      </a:defRPr>
    </a:lvl7pPr>
    <a:lvl8pPr indent="1600200" latinLnBrk="0">
      <a:defRPr sz="1600">
        <a:latin typeface="+mj-lt"/>
        <a:ea typeface="+mj-ea"/>
        <a:cs typeface="+mj-cs"/>
        <a:sym typeface="Calibri"/>
      </a:defRPr>
    </a:lvl8pPr>
    <a:lvl9pPr indent="1828800" latinLnBrk="0">
      <a:defRPr sz="16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 name="Shape 26"/>
          <p:cNvSpPr/>
          <p:nvPr>
            <p:ph type="sldImg"/>
          </p:nvPr>
        </p:nvSpPr>
        <p:spPr>
          <a:prstGeom prst="rect">
            <a:avLst/>
          </a:prstGeom>
        </p:spPr>
        <p:txBody>
          <a:bodyPr/>
          <a:lstStyle/>
          <a:p>
            <a:pPr/>
          </a:p>
        </p:txBody>
      </p:sp>
      <p:sp>
        <p:nvSpPr>
          <p:cNvPr id="27" name="Shape 27"/>
          <p:cNvSpPr/>
          <p:nvPr>
            <p:ph type="body" sz="quarter" idx="1"/>
          </p:nvPr>
        </p:nvSpPr>
        <p:spPr>
          <a:prstGeom prst="rect">
            <a:avLst/>
          </a:prstGeom>
        </p:spPr>
        <p:txBody>
          <a:bodyPr/>
          <a:lstStyle/>
          <a:p>
            <a:pPr/>
            <a:r>
              <a:t>Nous allons vous présenter notre application bancaire qui est organisée en microservices, c'est-à-dire en plusieurs applications indépendantes qui communiquent entre elles uniquement par des requêtes HTTP. Chacune de ces applications est construite selon l'architecture hexagonale.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 name="Shape 60"/>
          <p:cNvSpPr/>
          <p:nvPr>
            <p:ph type="sldImg"/>
          </p:nvPr>
        </p:nvSpPr>
        <p:spPr>
          <a:prstGeom prst="rect">
            <a:avLst/>
          </a:prstGeom>
        </p:spPr>
        <p:txBody>
          <a:bodyPr/>
          <a:lstStyle/>
          <a:p>
            <a:pPr/>
          </a:p>
        </p:txBody>
      </p:sp>
      <p:sp>
        <p:nvSpPr>
          <p:cNvPr id="61" name="Shape 61"/>
          <p:cNvSpPr/>
          <p:nvPr>
            <p:ph type="body" sz="quarter" idx="1"/>
          </p:nvPr>
        </p:nvSpPr>
        <p:spPr>
          <a:prstGeom prst="rect">
            <a:avLst/>
          </a:prstGeom>
        </p:spPr>
        <p:txBody>
          <a:bodyPr/>
          <a:lstStyle/>
          <a:p>
            <a:pPr/>
            <a:r>
              <a:t>Voici la répartition du travail telle qu'elle apparaît dans l'historique Git du dépôt.</a:t>
            </a:r>
          </a:p>
          <a:p>
            <a:pPr/>
            <a:r>
              <a:t>Dylan a mis en place le dépôt avec Docker et a implémenté les quatre services métier, à savoir Compte puis Client puis Transaction et Auth, avec leurs premiers tests.</a:t>
            </a:r>
          </a:p>
          <a:p>
            <a:pPr/>
            <a:r>
              <a:t>Grégory a développé l'API Gateway avec son router, son proxy et ses middlewares ainsi que le document de présentation de l'architecture.</a:t>
            </a:r>
          </a:p>
          <a:p>
            <a:pPr/>
            <a:r>
              <a:t>Guillaume a réalisé le front, les tests complémentaires et les tests d'intégration, la route qui liste les transactions d'un compte et une correction relevée par SonarQube.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9" name="Shape 89"/>
          <p:cNvSpPr/>
          <p:nvPr>
            <p:ph type="sldImg"/>
          </p:nvPr>
        </p:nvSpPr>
        <p:spPr>
          <a:prstGeom prst="rect">
            <a:avLst/>
          </a:prstGeom>
        </p:spPr>
        <p:txBody>
          <a:bodyPr/>
          <a:lstStyle/>
          <a:p>
            <a:pPr/>
          </a:p>
        </p:txBody>
      </p:sp>
      <p:sp>
        <p:nvSpPr>
          <p:cNvPr id="90" name="Shape 90"/>
          <p:cNvSpPr/>
          <p:nvPr>
            <p:ph type="body" sz="quarter" idx="1"/>
          </p:nvPr>
        </p:nvSpPr>
        <p:spPr>
          <a:prstGeom prst="rect">
            <a:avLst/>
          </a:prstGeom>
        </p:spPr>
        <p:txBody>
          <a:bodyPr/>
          <a:lstStyle/>
          <a:p>
            <a:pPr/>
            <a:r>
              <a:t>Notre objectif était de concevoir un système bancaire découpé en services indépendants et exposé par une API REST, à savoir une interface HTTP où chaque ressource comme un compte ou un client possède une adresse et où l'action dépend de la méthode employée comme GET pour lire et POST pour créer.</a:t>
            </a:r>
          </a:p>
          <a:p>
            <a:pPr/>
          </a:p>
          <a:p>
            <a:pPr/>
            <a:r>
              <a:t>Notre banque traite quatre sujets à savoir les utilisateurs puis les clients puis les comptes et enfin les transactions et nous avons créé un service pour chacun d'eux. Chaque service est construit autour d'une entité, c'est-à-dire l'objet principal qu'il manipule comme un compte ou un client avec ses informations et les règles qui s'y appliquent comme l'interdiction de retirer plus que son solde.</a:t>
            </a:r>
          </a:p>
          <a:p>
            <a:pPr/>
          </a:p>
          <a:p>
            <a:pPr/>
            <a:r>
              <a:t>1- Le premier est le service Login qui gère l'inscription et la connexion et qui délivre un jeton JWT, c'est-à-dire une chaîne signée qui prouve l'identité de l'utilisateur à chaque requête.</a:t>
            </a:r>
          </a:p>
          <a:p>
            <a:pPr/>
            <a:r>
              <a:t>2- Le deuxième est le service Client pour la création et la consultation des clients.</a:t>
            </a:r>
          </a:p>
          <a:p>
            <a:pPr/>
            <a:r>
              <a:t>3- Le troisième est le service Compte qui tient le solde et applique tout ce qui est dépôts et retraits.</a:t>
            </a:r>
          </a:p>
          <a:p>
            <a:pPr/>
            <a:r>
              <a:t>4- Le quatrième est le service Transaction qui va réaliser les virements et conserver l'historique des transactions.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3" name="Shape 93"/>
          <p:cNvSpPr/>
          <p:nvPr>
            <p:ph type="sldImg"/>
          </p:nvPr>
        </p:nvSpPr>
        <p:spPr>
          <a:prstGeom prst="rect">
            <a:avLst/>
          </a:prstGeom>
        </p:spPr>
        <p:txBody>
          <a:bodyPr/>
          <a:lstStyle/>
          <a:p>
            <a:pPr/>
          </a:p>
        </p:txBody>
      </p:sp>
      <p:sp>
        <p:nvSpPr>
          <p:cNvPr id="94" name="Shape 94"/>
          <p:cNvSpPr/>
          <p:nvPr>
            <p:ph type="body" sz="quarter" idx="1"/>
          </p:nvPr>
        </p:nvSpPr>
        <p:spPr>
          <a:prstGeom prst="rect">
            <a:avLst/>
          </a:prstGeom>
        </p:spPr>
        <p:txBody>
          <a:bodyPr/>
          <a:lstStyle/>
          <a:p>
            <a:pPr/>
            <a:r>
              <a:t>Notre objectif était de concevoir un système bancaire découpé en services indépendants et exposé par une API REST, à savoir une interface HTTP où chaque ressource comme un compte ou un client possède une adresse et où l'action dépend de la méthode employée comme GET pour lire et POST pour créer.</a:t>
            </a:r>
          </a:p>
          <a:p>
            <a:pPr/>
          </a:p>
          <a:p>
            <a:pPr/>
            <a:r>
              <a:t>Notre banque traite quatre sujets à savoir les utilisateurs puis les clients puis les comptes et enfin les transactions et nous avons créé un service pour chacun d'eux. Chaque service est construit autour d'une entité, c'est-à-dire l'objet principal qu'il manipule comme un compte ou un client avec ses informations et les règles qui s'y appliquent comme l'interdiction de retirer plus que son solde.</a:t>
            </a:r>
          </a:p>
          <a:p>
            <a:pPr/>
          </a:p>
          <a:p>
            <a:pPr/>
            <a:r>
              <a:t>1- Le premier est le service Login qui gère l'inscription et la connexion et qui délivre un jeton JWT, c'est-à-dire une chaîne signée qui prouve l'identité de l'utilisateur à chaque requête.</a:t>
            </a:r>
          </a:p>
          <a:p>
            <a:pPr/>
            <a:r>
              <a:t>2- Le deuxième est le service Client pour la création et la consultation des clients.</a:t>
            </a:r>
          </a:p>
          <a:p>
            <a:pPr/>
            <a:r>
              <a:t>3- Le troisième est le service Compte qui tient le solde et applique tout ce qui est dépôts et retraits.</a:t>
            </a:r>
          </a:p>
          <a:p>
            <a:pPr/>
            <a:r>
              <a:t>4- Le quatrième est le service Transaction qui va réaliser les virements et conserver l'historique des transactions.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 name="Shape 131"/>
          <p:cNvSpPr/>
          <p:nvPr>
            <p:ph type="sldImg"/>
          </p:nvPr>
        </p:nvSpPr>
        <p:spPr>
          <a:prstGeom prst="rect">
            <a:avLst/>
          </a:prstGeom>
        </p:spPr>
        <p:txBody>
          <a:bodyPr/>
          <a:lstStyle/>
          <a:p>
            <a:pPr/>
          </a:p>
        </p:txBody>
      </p:sp>
      <p:sp>
        <p:nvSpPr>
          <p:cNvPr id="132" name="Shape 132"/>
          <p:cNvSpPr/>
          <p:nvPr>
            <p:ph type="body" sz="quarter" idx="1"/>
          </p:nvPr>
        </p:nvSpPr>
        <p:spPr>
          <a:prstGeom prst="rect">
            <a:avLst/>
          </a:prstGeom>
        </p:spPr>
        <p:txBody>
          <a:bodyPr/>
          <a:lstStyle/>
          <a:p>
            <a:pPr/>
            <a:r>
              <a:t>Voici le découpage en microservices. Le front ne connaît qu'une adresse qui est celle de l'API Gateway et celle-ci route chaque requête vers le service concerné. </a:t>
            </a:r>
          </a:p>
          <a:p>
            <a:pPr/>
            <a:r>
              <a:t>Chaque service est déployé dans son propre conteneur Docker, c'est-à-dire un environnement isolé qui embarque le code et ses dépendances. </a:t>
            </a:r>
          </a:p>
          <a:p>
            <a:pPr/>
            <a:r>
              <a:t>Un seul service en appelle un autre et c'est le service Transaction puisque pour réaliser un virement il doit demander au service Compte de débiter puis de créditer les comptes concernés.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 name="Shape 158"/>
          <p:cNvSpPr/>
          <p:nvPr>
            <p:ph type="sldImg"/>
          </p:nvPr>
        </p:nvSpPr>
        <p:spPr>
          <a:prstGeom prst="rect">
            <a:avLst/>
          </a:prstGeom>
        </p:spPr>
        <p:txBody>
          <a:bodyPr/>
          <a:lstStyle/>
          <a:p>
            <a:pPr/>
          </a:p>
        </p:txBody>
      </p:sp>
      <p:sp>
        <p:nvSpPr>
          <p:cNvPr id="159" name="Shape 159"/>
          <p:cNvSpPr/>
          <p:nvPr>
            <p:ph type="body" sz="quarter" idx="1"/>
          </p:nvPr>
        </p:nvSpPr>
        <p:spPr>
          <a:prstGeom prst="rect">
            <a:avLst/>
          </a:prstGeom>
        </p:spPr>
        <p:txBody>
          <a:bodyPr/>
          <a:lstStyle/>
          <a:p>
            <a:pPr/>
            <a:r>
              <a:t>Chaque service est rangé de la même façon :  en trois dossiers. </a:t>
            </a:r>
          </a:p>
          <a:p>
            <a:pPr/>
            <a:r>
              <a:t>Domain contient les entités et leurs règles.</a:t>
            </a:r>
          </a:p>
          <a:p>
            <a:pPr/>
            <a:r>
              <a:t> Application contient les use cases et les ports.</a:t>
            </a:r>
          </a:p>
          <a:p>
            <a:pPr/>
            <a:r>
              <a:t> Infrastructure contient les adaptateurs, c'est-à-dire tout ce qui échange avec l'extérieur comme les contrôleurs et l'accès à la base. </a:t>
            </a:r>
          </a:p>
          <a:p>
            <a:pPr/>
            <a:r>
              <a:t>Nos quatre services métier suivent la même organisation.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 name="Shape 166"/>
          <p:cNvSpPr/>
          <p:nvPr>
            <p:ph type="sldImg"/>
          </p:nvPr>
        </p:nvSpPr>
        <p:spPr>
          <a:prstGeom prst="rect">
            <a:avLst/>
          </a:prstGeom>
        </p:spPr>
        <p:txBody>
          <a:bodyPr/>
          <a:lstStyle/>
          <a:p>
            <a:pPr/>
          </a:p>
        </p:txBody>
      </p:sp>
      <p:sp>
        <p:nvSpPr>
          <p:cNvPr id="167" name="Shape 167"/>
          <p:cNvSpPr/>
          <p:nvPr>
            <p:ph type="body" sz="quarter" idx="1"/>
          </p:nvPr>
        </p:nvSpPr>
        <p:spPr>
          <a:prstGeom prst="rect">
            <a:avLst/>
          </a:prstGeom>
        </p:spPr>
        <p:txBody>
          <a:bodyPr/>
          <a:lstStyle/>
          <a:p>
            <a:pPr/>
            <a:r>
              <a:t>Quand un virement est demandé </a:t>
            </a:r>
          </a:p>
          <a:p>
            <a:pPr/>
            <a:r>
              <a:t>1- le TransactionController reçoit la requête HTTP et appelle EffectuerVirementUseCase. </a:t>
            </a:r>
            <a:br/>
            <a:r>
              <a:t>2- Le use case crée une entité Transaction à l'état PENDING et l'enregistre grâce au port TransactionRepositoryInterface puis il demande au port CompteServiceClientInterface de retirer l'argent du compte source et de le déposer sur le compte destination. </a:t>
            </a:r>
          </a:p>
          <a:p>
            <a:pPr/>
            <a:r>
              <a:t>3- Si tout se passe bien la transaction passe à l'état COMPLETED mais si le service Compte renvoie une erreur elle passe à l'état FAILED. </a:t>
            </a:r>
          </a:p>
          <a:p>
            <a:pPr/>
          </a:p>
          <a:p>
            <a:pPr/>
            <a:r>
              <a:t>Un port est une interface à savoir une liste d'opérations comme save, retirer ou deposer sans le code qui les réalise. Ce code se trouve dans les adaptateurs puisque PdoTransactionRepository écrit dans la base MySQL et HttpCompteServiceClient envoie les requêtes au service Compte. Concrètement ce que ça veut dire c'est que le use case ne sait pas à qui il parle si bien que nous pouvons remplacer un adaptateur sans toucher au métier.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3" name="Shape 183"/>
          <p:cNvSpPr/>
          <p:nvPr>
            <p:ph type="sldImg"/>
          </p:nvPr>
        </p:nvSpPr>
        <p:spPr>
          <a:prstGeom prst="rect">
            <a:avLst/>
          </a:prstGeom>
        </p:spPr>
        <p:txBody>
          <a:bodyPr/>
          <a:lstStyle/>
          <a:p>
            <a:pPr/>
          </a:p>
        </p:txBody>
      </p:sp>
      <p:sp>
        <p:nvSpPr>
          <p:cNvPr id="184" name="Shape 184"/>
          <p:cNvSpPr/>
          <p:nvPr>
            <p:ph type="body" sz="quarter" idx="1"/>
          </p:nvPr>
        </p:nvSpPr>
        <p:spPr>
          <a:prstGeom prst="rect">
            <a:avLst/>
          </a:prstGeom>
        </p:spPr>
        <p:txBody>
          <a:bodyPr/>
          <a:lstStyle/>
          <a:p>
            <a:pPr/>
            <a:r>
              <a:t>Voici un port et ses deux adaptateurs dans le service Compte. </a:t>
            </a:r>
          </a:p>
          <a:p>
            <a:pPr/>
            <a:r>
              <a:t>À gauche le port CompteRepositoryInterface donne seulement le nom de trois opérations, à savoir enregistrer un compte puis en retrouver un et enfin les lister, mais il ne contient aucun code.</a:t>
            </a:r>
          </a:p>
          <a:p>
            <a:pPr/>
            <a:r>
              <a:t>À droite deux classes contiennent le vrai code de ces opérations. PdoCompteRepository travaille avec MySQL alors que InMemoryCompteRepository garde les comptes en mémoire. Le use case de retrait appelle uniquement les opérations du port et c'est Symfony qui branche derrière la classe qui fait réellement le travail en fonction de ce qu’on a déclaré dans notre fichier .yaml. (compte-service/config/services.yaml) </a:t>
            </a:r>
          </a:p>
          <a:p>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3" name="Shape 223"/>
          <p:cNvSpPr/>
          <p:nvPr>
            <p:ph type="sldImg"/>
          </p:nvPr>
        </p:nvSpPr>
        <p:spPr>
          <a:prstGeom prst="rect">
            <a:avLst/>
          </a:prstGeom>
        </p:spPr>
        <p:txBody>
          <a:bodyPr/>
          <a:lstStyle/>
          <a:p>
            <a:pPr/>
          </a:p>
        </p:txBody>
      </p:sp>
      <p:sp>
        <p:nvSpPr>
          <p:cNvPr id="224" name="Shape 224"/>
          <p:cNvSpPr/>
          <p:nvPr>
            <p:ph type="body" sz="quarter" idx="1"/>
          </p:nvPr>
        </p:nvSpPr>
        <p:spPr>
          <a:prstGeom prst="rect">
            <a:avLst/>
          </a:prstGeom>
        </p:spPr>
        <p:txBody>
          <a:bodyPr/>
          <a:lstStyle/>
          <a:p>
            <a:pPr/>
            <a:r>
              <a:t>L'API Gateway est le point d'entrée unique du système. Chaque requête traverse une chaîne de middlewares qui sont des traitements exécutés successivement avant d'atteindre la destination.</a:t>
            </a:r>
          </a:p>
          <a:p>
            <a:pPr/>
            <a:r>
              <a:t>Voici le parcours d'une requête :</a:t>
            </a:r>
          </a:p>
          <a:p>
            <a:pPr/>
            <a:r>
              <a:t>1 - La journalisation des requêtes (gateway-service/src/Middleware/LoggerMiddleware.php, commande : docker exec gateway-php cat /tmp/gateway.log).</a:t>
            </a:r>
          </a:p>
          <a:p>
            <a:pPr/>
            <a:r>
              <a:t>2 - Le CORS (Cross-Origin Resource Sharing) qui est le mécanisme par lequel un navigateur autorise une page web à appeler une API hébergée sur une autre origine, chez nous le front sur le port 3000 qui appelle la Gateway sur le port 8080 (gateway-service/src/Middleware/CorsMiddleware.php).</a:t>
            </a:r>
          </a:p>
          <a:p>
            <a:pPr/>
            <a:r>
              <a:t>3 - La vérification de la signature et de la validité du jeton JWT (gateway-service/src/Middleware/JwtMiddleware.php).</a:t>
            </a:r>
          </a:p>
          <a:p>
            <a:pPr/>
            <a:r>
              <a:t>4 - Le router qui détermine ensuite le service cible (gateway-service/src/Router/Router.php).</a:t>
            </a:r>
          </a:p>
          <a:p>
            <a:pPr/>
            <a:r>
              <a:t>5 - Le proxy qui lui transmet la requête puis renvoie sa réponse (gateway-service/src/Proxy/HttpProxy.php).</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7" name="Shape 237"/>
          <p:cNvSpPr/>
          <p:nvPr>
            <p:ph type="sldImg"/>
          </p:nvPr>
        </p:nvSpPr>
        <p:spPr>
          <a:prstGeom prst="rect">
            <a:avLst/>
          </a:prstGeom>
        </p:spPr>
        <p:txBody>
          <a:bodyPr/>
          <a:lstStyle/>
          <a:p>
            <a:pPr/>
          </a:p>
        </p:txBody>
      </p:sp>
      <p:sp>
        <p:nvSpPr>
          <p:cNvPr id="238" name="Shape 238"/>
          <p:cNvSpPr/>
          <p:nvPr>
            <p:ph type="body" sz="quarter" idx="1"/>
          </p:nvPr>
        </p:nvSpPr>
        <p:spPr>
          <a:prstGeom prst="rect">
            <a:avLst/>
          </a:prstGeom>
        </p:spPr>
        <p:txBody>
          <a:bodyPr/>
          <a:lstStyle/>
          <a:p>
            <a:pPr/>
            <a:r>
              <a:t>L'API expose nos routes avec des codes de retour standards, à savoir 201 quand une ressource est créée et 200 quand une opération réussit. Toutes nos réponses passent par des DTO, pour Data Transfer Object, c'est-à-dire des objets qui transportent seulement les informations à renvoyer. On peut ainsi modifier une entité sans changer ce que reçoit le site web. Nos contrôleurs restent légers puisqu'ils lisent la requête puis appellent un use case et renvoient un DTO.</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3" name="Shape 263"/>
          <p:cNvSpPr/>
          <p:nvPr>
            <p:ph type="sldImg"/>
          </p:nvPr>
        </p:nvSpPr>
        <p:spPr>
          <a:prstGeom prst="rect">
            <a:avLst/>
          </a:prstGeom>
        </p:spPr>
        <p:txBody>
          <a:bodyPr/>
          <a:lstStyle/>
          <a:p>
            <a:pPr/>
          </a:p>
        </p:txBody>
      </p:sp>
      <p:sp>
        <p:nvSpPr>
          <p:cNvPr id="264" name="Shape 264"/>
          <p:cNvSpPr/>
          <p:nvPr>
            <p:ph type="body" sz="quarter" idx="1"/>
          </p:nvPr>
        </p:nvSpPr>
        <p:spPr>
          <a:prstGeom prst="rect">
            <a:avLst/>
          </a:prstGeom>
        </p:spPr>
        <p:txBody>
          <a:bodyPr/>
          <a:lstStyle/>
          <a:p>
            <a:pPr/>
            <a:r>
              <a:t>Quand une règle n'est pas respectée l'entité lève une exception dont le nom décrit le problème comme SoldeInsuffisantException. Le use case la laisse passer et elle arrive dans un handler global qui est le seul endroit à la transformer en réponse HTTP avec le bon code, à savoir 400 pour une demande invalide puis 404 pour un compte introuvable et 409 pour un compte bloqué. Le service Transaction fait de même avec les erreurs qu'il reçoit du service Compte.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0" name="Shape 290"/>
          <p:cNvSpPr/>
          <p:nvPr>
            <p:ph type="sldImg"/>
          </p:nvPr>
        </p:nvSpPr>
        <p:spPr>
          <a:prstGeom prst="rect">
            <a:avLst/>
          </a:prstGeom>
        </p:spPr>
        <p:txBody>
          <a:bodyPr/>
          <a:lstStyle/>
          <a:p>
            <a:pPr/>
          </a:p>
        </p:txBody>
      </p:sp>
      <p:sp>
        <p:nvSpPr>
          <p:cNvPr id="291" name="Shape 291"/>
          <p:cNvSpPr/>
          <p:nvPr>
            <p:ph type="body" sz="quarter" idx="1"/>
          </p:nvPr>
        </p:nvSpPr>
        <p:spPr>
          <a:prstGeom prst="rect">
            <a:avLst/>
          </a:prstGeom>
        </p:spPr>
        <p:txBody>
          <a:bodyPr/>
          <a:lstStyle/>
          <a:p>
            <a:pPr/>
            <a:r>
              <a:t>Nous avons écrit 49 tests PHPUnit répartis sur trois niveaux. Les tests du domaine vérifient les règles métier seules sans framework ni base. Les tests des use cases remplacent les ports par des mocks, c'est-à-dire des objets factices, et couvrent les cas nominaux, les cas limites et les erreurs. Les tests d'intégration envoient de vraies requêtes HTTP au service et passent par la base. Chaque test porte un nom qui décrit le scénario et suit le schéma Arrange Act Assert.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2" name="Shape 322"/>
          <p:cNvSpPr/>
          <p:nvPr>
            <p:ph type="sldImg"/>
          </p:nvPr>
        </p:nvSpPr>
        <p:spPr>
          <a:prstGeom prst="rect">
            <a:avLst/>
          </a:prstGeom>
        </p:spPr>
        <p:txBody>
          <a:bodyPr/>
          <a:lstStyle/>
          <a:p>
            <a:pPr/>
          </a:p>
        </p:txBody>
      </p:sp>
      <p:sp>
        <p:nvSpPr>
          <p:cNvPr id="323" name="Shape 323"/>
          <p:cNvSpPr/>
          <p:nvPr>
            <p:ph type="body" sz="quarter" idx="1"/>
          </p:nvPr>
        </p:nvSpPr>
        <p:spPr>
          <a:prstGeom prst="rect">
            <a:avLst/>
          </a:prstGeom>
        </p:spPr>
        <p:txBody>
          <a:bodyPr/>
          <a:lstStyle/>
          <a:p>
            <a:pPr/>
            <a:r>
              <a:t>Les principes SOLID sont cinq règles de conception orientée objet.</a:t>
            </a:r>
          </a:p>
          <a:p>
            <a:pPr/>
            <a:r>
              <a:t>Le S est la responsabilité unique puisque chaque use case fait une seule opération comme RetirerArgentUseCase.</a:t>
            </a:r>
          </a:p>
          <a:p>
            <a:pPr/>
            <a:r>
              <a:t>Le O est le principe ouvert fermé puisqu'on ajoute un stockage en écrivant un nouvel adaptateur sans modifier les use cases.</a:t>
            </a:r>
          </a:p>
          <a:p>
            <a:pPr/>
            <a:r>
              <a:t>Le L est la substitution de Liskov puisque nos deux repositories de comptes sont interchangeables derrière le même port.</a:t>
            </a:r>
          </a:p>
          <a:p>
            <a:pPr/>
            <a:r>
              <a:t>Le I est la séparation des interfaces puisque nos ports restent courts comme CompteServiceClientInterface qui ne contient que retirer et deposer.</a:t>
            </a:r>
          </a:p>
          <a:p>
            <a:pPr/>
            <a:r>
              <a:t>Le D est l'inversion des dépendances puisque nos use cases dépendent des ports et non des classes techniques.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2" name="Shape 342"/>
          <p:cNvSpPr/>
          <p:nvPr>
            <p:ph type="sldImg"/>
          </p:nvPr>
        </p:nvSpPr>
        <p:spPr>
          <a:prstGeom prst="rect">
            <a:avLst/>
          </a:prstGeom>
        </p:spPr>
        <p:txBody>
          <a:bodyPr/>
          <a:lstStyle/>
          <a:p>
            <a:pPr/>
          </a:p>
        </p:txBody>
      </p:sp>
      <p:sp>
        <p:nvSpPr>
          <p:cNvPr id="343" name="Shape 343"/>
          <p:cNvSpPr/>
          <p:nvPr>
            <p:ph type="body" sz="quarter" idx="1"/>
          </p:nvPr>
        </p:nvSpPr>
        <p:spPr>
          <a:prstGeom prst="rect">
            <a:avLst/>
          </a:prstGeom>
        </p:spPr>
        <p:txBody>
          <a:bodyPr/>
          <a:lstStyle/>
          <a:p>
            <a:pPr/>
            <a:r>
              <a:t>Pour finir sur la solution nous reprenons tous les adaptateurs du projet.</a:t>
            </a:r>
          </a:p>
          <a:p>
            <a:pPr/>
            <a:r>
              <a:t>À gauche les adaptateurs IN reçoivent ce qui vient de l'extérieur et déclenchent un use case. Ce sont les contrôleurs REST qui lisent la requête puis appellent le use case et renvoient un DTO, ainsi que le handler global qui transforme les exceptions en réponses HTTP.</a:t>
            </a:r>
          </a:p>
          <a:p>
            <a:pPr/>
            <a:r>
              <a:t>À droite les adaptateurs OUT sont appelés par les use cases à travers un port, la plupart pour enregistrer les données dans MySQL avec PDO, mais aussi HttpCompteServiceClient qui appelle le service Compte et FirebaseJwtGenerator qui crée les jetons de connexion.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5" name="Shape 355"/>
          <p:cNvSpPr/>
          <p:nvPr>
            <p:ph type="sldImg"/>
          </p:nvPr>
        </p:nvSpPr>
        <p:spPr>
          <a:prstGeom prst="rect">
            <a:avLst/>
          </a:prstGeom>
        </p:spPr>
        <p:txBody>
          <a:bodyPr/>
          <a:lstStyle/>
          <a:p>
            <a:pPr/>
          </a:p>
        </p:txBody>
      </p:sp>
      <p:sp>
        <p:nvSpPr>
          <p:cNvPr id="356" name="Shape 356"/>
          <p:cNvSpPr/>
          <p:nvPr>
            <p:ph type="body" sz="quarter" idx="1"/>
          </p:nvPr>
        </p:nvSpPr>
        <p:spPr>
          <a:prstGeom prst="rect">
            <a:avLst/>
          </a:prstGeom>
        </p:spPr>
        <p:txBody>
          <a:bodyPr/>
          <a:lstStyle/>
          <a:p>
            <a:pPr/>
            <a:r>
              <a:t>Avec du recul nous sommes satisfaits de plusieurs points, à savoir un domaine isolé de Symfony et de la base, des ports et des adaptateurs pour tout ce qui est externe, une gestion des erreurs centralisée et 49 tests répartis sur trois niveaux.</a:t>
            </a:r>
          </a:p>
          <a:p>
            <a:pPr/>
            <a:r>
              <a:t>Nous avons aussi identifié trois améliorations. La première est de donner une base de données à chaque service puisqu'aujourd'hui ils partagent la même base MySQL. La deuxième est d'ajouter des ports d'entrée pour que les contrôleurs dépendent d'une interface et non de la classe du use case. La troisième est de gérer une compensation sur les virements puisque si le crédit échoue après le débit le compte source reste débité, et la solution serait de le recréditer automatiquement.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4" name="Shape 374"/>
          <p:cNvSpPr/>
          <p:nvPr>
            <p:ph type="sldImg"/>
          </p:nvPr>
        </p:nvSpPr>
        <p:spPr>
          <a:prstGeom prst="rect">
            <a:avLst/>
          </a:prstGeom>
        </p:spPr>
        <p:txBody>
          <a:bodyPr/>
          <a:lstStyle/>
          <a:p>
            <a:pPr/>
          </a:p>
        </p:txBody>
      </p:sp>
      <p:sp>
        <p:nvSpPr>
          <p:cNvPr id="375" name="Shape 375"/>
          <p:cNvSpPr/>
          <p:nvPr>
            <p:ph type="body" sz="quarter" idx="1"/>
          </p:nvPr>
        </p:nvSpPr>
        <p:spPr>
          <a:prstGeom prst="rect">
            <a:avLst/>
          </a:prstGeom>
        </p:spPr>
        <p:txBody>
          <a:bodyPr/>
          <a:lstStyle/>
          <a:p>
            <a:pPr/>
            <a:r>
              <a:t>Avant la soutenance : docker-compose up -d --build puis ouvrir http://localhost:3000 et phpMyAdmin sur http://localhost:8081, et lancer dans un terminal docker exec gateway-php tail -f /tmp/gateway.log.</a:t>
            </a:r>
          </a:p>
          <a:p>
            <a:pPr/>
            <a:r>
              <a:t>1 - Nous nous connectons sur le front, ce qui passe par le service Login et renvoie un jeton JWT.</a:t>
            </a:r>
          </a:p>
          <a:p>
            <a:pPr/>
            <a:r>
              <a:t>2 - Nous créons un client puis deux comptes rattachés à ce client.</a:t>
            </a:r>
          </a:p>
          <a:p>
            <a:pPr/>
            <a:r>
              <a:t>3 - Nous déposons de l'argent sur le premier compte.</a:t>
            </a:r>
          </a:p>
          <a:p>
            <a:pPr/>
            <a:r>
              <a:t>4 - Nous faisons un virement du premier compte vers le second et la transaction passe en COMPLETED.</a:t>
            </a:r>
          </a:p>
          <a:p>
            <a:pPr/>
            <a:r>
              <a:t>5 - Nous refaisons un virement d'un montant supérieur au solde, le service Compte refuse le retrait et la transaction passe en FAILED avec le motif solde insuffisant.</a:t>
            </a:r>
          </a:p>
          <a:p>
            <a:pPr/>
            <a:r>
              <a:t>6 - Nous montrons les lignes REQUEST et RESPONSE dans le journal de la Gateway puis les tables comptes et transaction dans phpMyAdmin.</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exte du titre"/>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Texte du titre</a:t>
            </a:r>
          </a:p>
        </p:txBody>
      </p:sp>
      <p:sp>
        <p:nvSpPr>
          <p:cNvPr id="3" name="Texte niveau 1…"/>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Texte niveau 1</a:t>
            </a:r>
          </a:p>
          <a:p>
            <a:pPr lvl="1"/>
            <a:r>
              <a:t>Texte niveau 2</a:t>
            </a:r>
          </a:p>
          <a:p>
            <a:pPr lvl="2"/>
            <a:r>
              <a:t>Texte niveau 3</a:t>
            </a:r>
          </a:p>
          <a:p>
            <a:pPr lvl="3"/>
            <a:r>
              <a:t>Texte niveau 4</a:t>
            </a:r>
          </a:p>
          <a:p>
            <a:pPr lvl="4"/>
            <a:r>
              <a:t>Texte niveau 5</a:t>
            </a:r>
          </a:p>
        </p:txBody>
      </p:sp>
      <p:sp>
        <p:nvSpPr>
          <p:cNvPr id="4" name="Numéro de diapositive"/>
          <p:cNvSpPr txBox="1"/>
          <p:nvPr>
            <p:ph type="sldNum" sz="quarter" idx="2"/>
          </p:nvPr>
        </p:nvSpPr>
        <p:spPr>
          <a:xfrm>
            <a:off x="8479670" y="4818888"/>
            <a:ext cx="207131" cy="196017"/>
          </a:xfrm>
          <a:prstGeom prst="rect">
            <a:avLst/>
          </a:prstGeom>
          <a:ln w="12700">
            <a:miter lim="400000"/>
          </a:ln>
        </p:spPr>
        <p:txBody>
          <a:bodyPr wrap="none" lIns="45719" rIns="45719">
            <a:spAutoFit/>
          </a:bodyPr>
          <a:lstStyle>
            <a:lvl1pPr algn="r">
              <a:defRPr sz="800">
                <a:solidFill>
                  <a:srgbClr val="6B767C"/>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8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8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8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8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8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8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8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8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8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 name="Shape 0"/>
          <p:cNvSpPr/>
          <p:nvPr/>
        </p:nvSpPr>
        <p:spPr>
          <a:xfrm>
            <a:off x="6309359" y="0"/>
            <a:ext cx="2834641" cy="5143500"/>
          </a:xfrm>
          <a:prstGeom prst="rect">
            <a:avLst/>
          </a:prstGeom>
          <a:solidFill>
            <a:srgbClr val="2F5D50"/>
          </a:solidFill>
          <a:ln w="12700">
            <a:solidFill>
              <a:srgbClr val="2F5D50"/>
            </a:solidFill>
          </a:ln>
        </p:spPr>
        <p:txBody>
          <a:bodyPr lIns="45719" rIns="45719"/>
          <a:lstStyle/>
          <a:p>
            <a:pPr/>
          </a:p>
        </p:txBody>
      </p:sp>
      <p:sp>
        <p:nvSpPr>
          <p:cNvPr id="21" name="Shape 1"/>
          <p:cNvSpPr/>
          <p:nvPr/>
        </p:nvSpPr>
        <p:spPr>
          <a:xfrm>
            <a:off x="6720840" y="1417319"/>
            <a:ext cx="2011680" cy="177393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762" y="0"/>
                </a:lnTo>
                <a:lnTo>
                  <a:pt x="16838" y="0"/>
                </a:lnTo>
                <a:lnTo>
                  <a:pt x="21600" y="10800"/>
                </a:lnTo>
                <a:lnTo>
                  <a:pt x="16838" y="21600"/>
                </a:lnTo>
                <a:lnTo>
                  <a:pt x="4762" y="21600"/>
                </a:lnTo>
                <a:close/>
              </a:path>
            </a:pathLst>
          </a:custGeom>
          <a:solidFill>
            <a:srgbClr val="2F5D50"/>
          </a:solidFill>
          <a:ln w="25400">
            <a:solidFill>
              <a:srgbClr val="FFFFFF"/>
            </a:solidFill>
          </a:ln>
        </p:spPr>
        <p:txBody>
          <a:bodyPr lIns="45719" rIns="45719"/>
          <a:lstStyle/>
          <a:p>
            <a:pPr/>
          </a:p>
        </p:txBody>
      </p:sp>
      <p:sp>
        <p:nvSpPr>
          <p:cNvPr id="22" name="Shape 2"/>
          <p:cNvSpPr/>
          <p:nvPr/>
        </p:nvSpPr>
        <p:spPr>
          <a:xfrm>
            <a:off x="7269480" y="1901951"/>
            <a:ext cx="914401" cy="8046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752" y="0"/>
                </a:lnTo>
                <a:lnTo>
                  <a:pt x="16848" y="0"/>
                </a:lnTo>
                <a:lnTo>
                  <a:pt x="21600" y="10800"/>
                </a:lnTo>
                <a:lnTo>
                  <a:pt x="16848" y="21600"/>
                </a:lnTo>
                <a:lnTo>
                  <a:pt x="4752" y="21600"/>
                </a:lnTo>
                <a:close/>
              </a:path>
            </a:pathLst>
          </a:custGeom>
          <a:solidFill>
            <a:srgbClr val="B8672E"/>
          </a:solidFill>
          <a:ln w="12700">
            <a:solidFill>
              <a:srgbClr val="B8672E"/>
            </a:solidFill>
          </a:ln>
        </p:spPr>
        <p:txBody>
          <a:bodyPr lIns="45719" rIns="45719"/>
          <a:lstStyle/>
          <a:p>
            <a:pPr/>
          </a:p>
        </p:txBody>
      </p:sp>
      <p:sp>
        <p:nvSpPr>
          <p:cNvPr id="23" name="Text 4"/>
          <p:cNvSpPr txBox="1"/>
          <p:nvPr/>
        </p:nvSpPr>
        <p:spPr>
          <a:xfrm>
            <a:off x="640080" y="640080"/>
            <a:ext cx="5486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2F5D50"/>
                </a:solidFill>
              </a:defRPr>
            </a:lvl1pPr>
          </a:lstStyle>
          <a:p>
            <a:pPr/>
            <a:r>
              <a:t>Metz Numeric School · Architecture logicielle · 2026</a:t>
            </a:r>
          </a:p>
        </p:txBody>
      </p:sp>
      <p:sp>
        <p:nvSpPr>
          <p:cNvPr id="24" name="Text 5"/>
          <p:cNvSpPr txBox="1"/>
          <p:nvPr/>
        </p:nvSpPr>
        <p:spPr>
          <a:xfrm>
            <a:off x="640079" y="1325880"/>
            <a:ext cx="5394962" cy="1371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000">
                <a:solidFill>
                  <a:srgbClr val="1F2A30"/>
                </a:solidFill>
                <a:latin typeface="Cambria"/>
                <a:ea typeface="Cambria"/>
                <a:cs typeface="Cambria"/>
                <a:sym typeface="Cambria"/>
              </a:defRPr>
            </a:lvl1pPr>
          </a:lstStyle>
          <a:p>
            <a:pPr/>
            <a:r>
              <a:t>Application bancaire multi-services en architecture hexagonale</a:t>
            </a:r>
          </a:p>
        </p:txBody>
      </p:sp>
      <p:sp>
        <p:nvSpPr>
          <p:cNvPr id="25" name="Text 7"/>
          <p:cNvSpPr txBox="1"/>
          <p:nvPr/>
        </p:nvSpPr>
        <p:spPr>
          <a:xfrm>
            <a:off x="640080" y="4023359"/>
            <a:ext cx="54864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1F2A30"/>
                </a:solidFill>
              </a:defRPr>
            </a:lvl1pPr>
          </a:lstStyle>
          <a:p>
            <a:pPr/>
            <a:r>
              <a:t>Dylan BAUDSON · Grégory WOLFF · Guillaume CROUZET</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 name="Text 0"/>
          <p:cNvSpPr txBox="1"/>
          <p:nvPr/>
        </p:nvSpPr>
        <p:spPr>
          <a:xfrm>
            <a:off x="457200" y="256031"/>
            <a:ext cx="3657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00" sz="900">
                <a:solidFill>
                  <a:srgbClr val="B8672E"/>
                </a:solidFill>
              </a:defRPr>
            </a:lvl1pPr>
          </a:lstStyle>
          <a:p>
            <a:pPr/>
            <a:r>
              <a:t>L'ÉQUIPE</a:t>
            </a:r>
          </a:p>
        </p:txBody>
      </p:sp>
      <p:sp>
        <p:nvSpPr>
          <p:cNvPr id="30" name="Text 1"/>
          <p:cNvSpPr txBox="1"/>
          <p:nvPr/>
        </p:nvSpPr>
        <p:spPr>
          <a:xfrm>
            <a:off x="457200" y="530859"/>
            <a:ext cx="822960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400">
                <a:solidFill>
                  <a:srgbClr val="1F2A30"/>
                </a:solidFill>
                <a:latin typeface="Cambria"/>
                <a:ea typeface="Cambria"/>
                <a:cs typeface="Cambria"/>
                <a:sym typeface="Cambria"/>
              </a:defRPr>
            </a:lvl1pPr>
          </a:lstStyle>
          <a:p>
            <a:pPr/>
            <a:r>
              <a:t>L'équipe</a:t>
            </a:r>
          </a:p>
        </p:txBody>
      </p:sp>
      <p:sp>
        <p:nvSpPr>
          <p:cNvPr id="31" name="Text 2"/>
          <p:cNvSpPr txBox="1"/>
          <p:nvPr/>
        </p:nvSpPr>
        <p:spPr>
          <a:xfrm>
            <a:off x="457200" y="4846320"/>
            <a:ext cx="64008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6B767C"/>
                </a:solidFill>
              </a:defRPr>
            </a:lvl1pPr>
          </a:lstStyle>
          <a:p>
            <a:pPr/>
            <a:r>
              <a:t>Application bancaire multi-services · Architecture hexagonale</a:t>
            </a:r>
          </a:p>
        </p:txBody>
      </p:sp>
      <p:sp>
        <p:nvSpPr>
          <p:cNvPr id="32" name="Shape 3"/>
          <p:cNvSpPr/>
          <p:nvPr/>
        </p:nvSpPr>
        <p:spPr>
          <a:xfrm>
            <a:off x="1234439" y="1463039"/>
            <a:ext cx="1188721" cy="1188721"/>
          </a:xfrm>
          <a:prstGeom prst="ellipse">
            <a:avLst/>
          </a:prstGeom>
          <a:solidFill>
            <a:srgbClr val="2F5D50"/>
          </a:solidFill>
          <a:ln w="12700">
            <a:solidFill>
              <a:srgbClr val="FFFFFF"/>
            </a:solidFill>
          </a:ln>
        </p:spPr>
        <p:txBody>
          <a:bodyPr lIns="45719" rIns="45719"/>
          <a:lstStyle/>
          <a:p>
            <a:pPr/>
          </a:p>
        </p:txBody>
      </p:sp>
      <p:sp>
        <p:nvSpPr>
          <p:cNvPr id="33" name="Text 4"/>
          <p:cNvSpPr txBox="1"/>
          <p:nvPr/>
        </p:nvSpPr>
        <p:spPr>
          <a:xfrm>
            <a:off x="1234439" y="1860550"/>
            <a:ext cx="1188721"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600">
                <a:solidFill>
                  <a:srgbClr val="FFFFFF"/>
                </a:solidFill>
                <a:latin typeface="Cambria"/>
                <a:ea typeface="Cambria"/>
                <a:cs typeface="Cambria"/>
                <a:sym typeface="Cambria"/>
              </a:defRPr>
            </a:lvl1pPr>
          </a:lstStyle>
          <a:p>
            <a:pPr/>
            <a:r>
              <a:t>DB</a:t>
            </a:r>
          </a:p>
        </p:txBody>
      </p:sp>
      <p:sp>
        <p:nvSpPr>
          <p:cNvPr id="34" name="Text 5"/>
          <p:cNvSpPr txBox="1"/>
          <p:nvPr/>
        </p:nvSpPr>
        <p:spPr>
          <a:xfrm>
            <a:off x="685800" y="2880360"/>
            <a:ext cx="22860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1F2A30"/>
                </a:solidFill>
                <a:latin typeface="Cambria"/>
                <a:ea typeface="Cambria"/>
                <a:cs typeface="Cambria"/>
                <a:sym typeface="Cambria"/>
              </a:defRPr>
            </a:lvl1pPr>
          </a:lstStyle>
          <a:p>
            <a:pPr/>
            <a:r>
              <a:t>Dylan BAUDSON</a:t>
            </a:r>
          </a:p>
        </p:txBody>
      </p:sp>
      <p:sp>
        <p:nvSpPr>
          <p:cNvPr id="35" name="Shape 7"/>
          <p:cNvSpPr/>
          <p:nvPr/>
        </p:nvSpPr>
        <p:spPr>
          <a:xfrm>
            <a:off x="3977640" y="1463039"/>
            <a:ext cx="1188721" cy="1188721"/>
          </a:xfrm>
          <a:prstGeom prst="ellipse">
            <a:avLst/>
          </a:prstGeom>
          <a:solidFill>
            <a:srgbClr val="B8672E"/>
          </a:solidFill>
          <a:ln w="12700">
            <a:solidFill>
              <a:srgbClr val="FFFFFF"/>
            </a:solidFill>
          </a:ln>
        </p:spPr>
        <p:txBody>
          <a:bodyPr lIns="45719" rIns="45719"/>
          <a:lstStyle/>
          <a:p>
            <a:pPr/>
          </a:p>
        </p:txBody>
      </p:sp>
      <p:sp>
        <p:nvSpPr>
          <p:cNvPr id="36" name="Text 8"/>
          <p:cNvSpPr txBox="1"/>
          <p:nvPr/>
        </p:nvSpPr>
        <p:spPr>
          <a:xfrm>
            <a:off x="3977640" y="1860550"/>
            <a:ext cx="1188721"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600">
                <a:solidFill>
                  <a:srgbClr val="FFFFFF"/>
                </a:solidFill>
                <a:latin typeface="Cambria"/>
                <a:ea typeface="Cambria"/>
                <a:cs typeface="Cambria"/>
                <a:sym typeface="Cambria"/>
              </a:defRPr>
            </a:lvl1pPr>
          </a:lstStyle>
          <a:p>
            <a:pPr/>
            <a:r>
              <a:t>GW</a:t>
            </a:r>
          </a:p>
        </p:txBody>
      </p:sp>
      <p:sp>
        <p:nvSpPr>
          <p:cNvPr id="37" name="Text 9"/>
          <p:cNvSpPr txBox="1"/>
          <p:nvPr/>
        </p:nvSpPr>
        <p:spPr>
          <a:xfrm>
            <a:off x="3429000" y="2880360"/>
            <a:ext cx="22860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1F2A30"/>
                </a:solidFill>
                <a:latin typeface="Cambria"/>
                <a:ea typeface="Cambria"/>
                <a:cs typeface="Cambria"/>
                <a:sym typeface="Cambria"/>
              </a:defRPr>
            </a:lvl1pPr>
          </a:lstStyle>
          <a:p>
            <a:pPr/>
            <a:r>
              <a:t>Grégory WOLFF</a:t>
            </a:r>
          </a:p>
        </p:txBody>
      </p:sp>
      <p:sp>
        <p:nvSpPr>
          <p:cNvPr id="38" name="Shape 11"/>
          <p:cNvSpPr/>
          <p:nvPr/>
        </p:nvSpPr>
        <p:spPr>
          <a:xfrm>
            <a:off x="6720840" y="1463039"/>
            <a:ext cx="1188721" cy="1188721"/>
          </a:xfrm>
          <a:prstGeom prst="ellipse">
            <a:avLst/>
          </a:prstGeom>
          <a:solidFill>
            <a:srgbClr val="2F5D50"/>
          </a:solidFill>
          <a:ln w="12700">
            <a:solidFill>
              <a:srgbClr val="FFFFFF"/>
            </a:solidFill>
          </a:ln>
        </p:spPr>
        <p:txBody>
          <a:bodyPr lIns="45719" rIns="45719"/>
          <a:lstStyle/>
          <a:p>
            <a:pPr/>
          </a:p>
        </p:txBody>
      </p:sp>
      <p:sp>
        <p:nvSpPr>
          <p:cNvPr id="39" name="Text 12"/>
          <p:cNvSpPr txBox="1"/>
          <p:nvPr/>
        </p:nvSpPr>
        <p:spPr>
          <a:xfrm>
            <a:off x="6720840" y="1860550"/>
            <a:ext cx="1188721"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600">
                <a:solidFill>
                  <a:srgbClr val="FFFFFF"/>
                </a:solidFill>
                <a:latin typeface="Cambria"/>
                <a:ea typeface="Cambria"/>
                <a:cs typeface="Cambria"/>
                <a:sym typeface="Cambria"/>
              </a:defRPr>
            </a:lvl1pPr>
          </a:lstStyle>
          <a:p>
            <a:pPr/>
            <a:r>
              <a:t>GC</a:t>
            </a:r>
          </a:p>
        </p:txBody>
      </p:sp>
      <p:sp>
        <p:nvSpPr>
          <p:cNvPr id="40" name="Text 13"/>
          <p:cNvSpPr txBox="1"/>
          <p:nvPr/>
        </p:nvSpPr>
        <p:spPr>
          <a:xfrm>
            <a:off x="6172200" y="2880360"/>
            <a:ext cx="22860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1F2A30"/>
                </a:solidFill>
                <a:latin typeface="Cambria"/>
                <a:ea typeface="Cambria"/>
                <a:cs typeface="Cambria"/>
                <a:sym typeface="Cambria"/>
              </a:defRPr>
            </a:lvl1pPr>
          </a:lstStyle>
          <a:p>
            <a:pPr/>
            <a:r>
              <a:t>Guillaume CROUZET</a:t>
            </a:r>
          </a:p>
        </p:txBody>
      </p:sp>
      <p:sp>
        <p:nvSpPr>
          <p:cNvPr id="41" name="Slide Number Placeholder 0"/>
          <p:cNvSpPr txBox="1"/>
          <p:nvPr>
            <p:ph type="sldNum" sz="quarter" idx="4294967295"/>
          </p:nvPr>
        </p:nvSpPr>
        <p:spPr>
          <a:xfrm>
            <a:off x="8531165" y="4818888"/>
            <a:ext cx="155635" cy="19601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 name="Text 0"/>
          <p:cNvSpPr txBox="1"/>
          <p:nvPr/>
        </p:nvSpPr>
        <p:spPr>
          <a:xfrm>
            <a:off x="457200" y="256031"/>
            <a:ext cx="3657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00" sz="900">
                <a:solidFill>
                  <a:srgbClr val="B8672E"/>
                </a:solidFill>
              </a:defRPr>
            </a:lvl1pPr>
          </a:lstStyle>
          <a:p>
            <a:pPr/>
            <a:r>
              <a:t>L'ÉQUIPE</a:t>
            </a:r>
          </a:p>
        </p:txBody>
      </p:sp>
      <p:sp>
        <p:nvSpPr>
          <p:cNvPr id="44" name="Text 1"/>
          <p:cNvSpPr txBox="1"/>
          <p:nvPr/>
        </p:nvSpPr>
        <p:spPr>
          <a:xfrm>
            <a:off x="457200" y="530859"/>
            <a:ext cx="822960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400">
                <a:solidFill>
                  <a:srgbClr val="1F2A30"/>
                </a:solidFill>
                <a:latin typeface="Cambria"/>
                <a:ea typeface="Cambria"/>
                <a:cs typeface="Cambria"/>
                <a:sym typeface="Cambria"/>
              </a:defRPr>
            </a:lvl1pPr>
          </a:lstStyle>
          <a:p>
            <a:pPr/>
            <a:r>
              <a:t>Qui a fait quoi</a:t>
            </a:r>
          </a:p>
        </p:txBody>
      </p:sp>
      <p:sp>
        <p:nvSpPr>
          <p:cNvPr id="45" name="Text 2"/>
          <p:cNvSpPr txBox="1"/>
          <p:nvPr/>
        </p:nvSpPr>
        <p:spPr>
          <a:xfrm>
            <a:off x="457200" y="4846320"/>
            <a:ext cx="64008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6B767C"/>
                </a:solidFill>
              </a:defRPr>
            </a:lvl1pPr>
          </a:lstStyle>
          <a:p>
            <a:pPr/>
            <a:r>
              <a:t>Application bancaire multi-services · Architecture hexagonale</a:t>
            </a:r>
          </a:p>
        </p:txBody>
      </p:sp>
      <p:sp>
        <p:nvSpPr>
          <p:cNvPr id="46" name="Shape 3"/>
          <p:cNvSpPr/>
          <p:nvPr/>
        </p:nvSpPr>
        <p:spPr>
          <a:xfrm>
            <a:off x="457200" y="1097280"/>
            <a:ext cx="2606040" cy="3337560"/>
          </a:xfrm>
          <a:prstGeom prst="rect">
            <a:avLst/>
          </a:prstGeom>
          <a:solidFill>
            <a:srgbClr val="EAF2EF"/>
          </a:solidFill>
          <a:ln w="12700">
            <a:solidFill>
              <a:srgbClr val="EAF2EF"/>
            </a:solidFill>
          </a:ln>
        </p:spPr>
        <p:txBody>
          <a:bodyPr lIns="45719" rIns="45719"/>
          <a:lstStyle/>
          <a:p>
            <a:pPr/>
          </a:p>
        </p:txBody>
      </p:sp>
      <p:sp>
        <p:nvSpPr>
          <p:cNvPr id="47" name="Shape 4"/>
          <p:cNvSpPr/>
          <p:nvPr/>
        </p:nvSpPr>
        <p:spPr>
          <a:xfrm>
            <a:off x="457200" y="1097280"/>
            <a:ext cx="2606040" cy="457201"/>
          </a:xfrm>
          <a:prstGeom prst="rect">
            <a:avLst/>
          </a:prstGeom>
          <a:solidFill>
            <a:srgbClr val="2F5D50"/>
          </a:solidFill>
          <a:ln w="12700">
            <a:solidFill>
              <a:srgbClr val="2F5D50"/>
            </a:solidFill>
          </a:ln>
        </p:spPr>
        <p:txBody>
          <a:bodyPr lIns="45719" rIns="45719"/>
          <a:lstStyle/>
          <a:p>
            <a:pPr/>
          </a:p>
        </p:txBody>
      </p:sp>
      <p:sp>
        <p:nvSpPr>
          <p:cNvPr id="48" name="Text 5"/>
          <p:cNvSpPr txBox="1"/>
          <p:nvPr/>
        </p:nvSpPr>
        <p:spPr>
          <a:xfrm>
            <a:off x="457200" y="1224280"/>
            <a:ext cx="260604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FFFFFF"/>
                </a:solidFill>
                <a:latin typeface="Cambria"/>
                <a:ea typeface="Cambria"/>
                <a:cs typeface="Cambria"/>
                <a:sym typeface="Cambria"/>
              </a:defRPr>
            </a:lvl1pPr>
          </a:lstStyle>
          <a:p>
            <a:pPr/>
            <a:r>
              <a:t>Dylan</a:t>
            </a:r>
          </a:p>
        </p:txBody>
      </p:sp>
      <p:sp>
        <p:nvSpPr>
          <p:cNvPr id="49" name="Text 6"/>
          <p:cNvSpPr txBox="1"/>
          <p:nvPr/>
        </p:nvSpPr>
        <p:spPr>
          <a:xfrm>
            <a:off x="621791" y="1737360"/>
            <a:ext cx="2286001" cy="9089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77800" indent="-177800">
              <a:spcBef>
                <a:spcPts val="900"/>
              </a:spcBef>
              <a:buSzPct val="100000"/>
              <a:buChar char="•"/>
              <a:defRPr sz="1100">
                <a:solidFill>
                  <a:srgbClr val="22292D"/>
                </a:solidFill>
              </a:defRPr>
            </a:pPr>
            <a:r>
              <a:t>Mise en place du dépôt, de Docker et du README</a:t>
            </a:r>
          </a:p>
          <a:p>
            <a:pPr marL="177800" indent="-177800">
              <a:spcBef>
                <a:spcPts val="900"/>
              </a:spcBef>
              <a:buSzPct val="100000"/>
              <a:buChar char="•"/>
              <a:defRPr sz="1100">
                <a:solidFill>
                  <a:srgbClr val="22292D"/>
                </a:solidFill>
              </a:defRPr>
            </a:pPr>
            <a:r>
              <a:t>Implémentation des services Compte, Client, Transaction et Auth avec leurs premiers tests</a:t>
            </a:r>
          </a:p>
        </p:txBody>
      </p:sp>
      <p:sp>
        <p:nvSpPr>
          <p:cNvPr id="50" name="Shape 7"/>
          <p:cNvSpPr/>
          <p:nvPr/>
        </p:nvSpPr>
        <p:spPr>
          <a:xfrm>
            <a:off x="3246120" y="1097280"/>
            <a:ext cx="2606041" cy="3337560"/>
          </a:xfrm>
          <a:prstGeom prst="rect">
            <a:avLst/>
          </a:prstGeom>
          <a:solidFill>
            <a:srgbClr val="EAF2EF"/>
          </a:solidFill>
          <a:ln w="12700">
            <a:solidFill>
              <a:srgbClr val="EAF2EF"/>
            </a:solidFill>
          </a:ln>
        </p:spPr>
        <p:txBody>
          <a:bodyPr lIns="45719" rIns="45719"/>
          <a:lstStyle/>
          <a:p>
            <a:pPr/>
          </a:p>
        </p:txBody>
      </p:sp>
      <p:sp>
        <p:nvSpPr>
          <p:cNvPr id="51" name="Shape 8"/>
          <p:cNvSpPr/>
          <p:nvPr/>
        </p:nvSpPr>
        <p:spPr>
          <a:xfrm>
            <a:off x="3246120" y="1097280"/>
            <a:ext cx="2606041" cy="457201"/>
          </a:xfrm>
          <a:prstGeom prst="rect">
            <a:avLst/>
          </a:prstGeom>
          <a:solidFill>
            <a:srgbClr val="B8672E"/>
          </a:solidFill>
          <a:ln w="12700">
            <a:solidFill>
              <a:srgbClr val="B8672E"/>
            </a:solidFill>
          </a:ln>
        </p:spPr>
        <p:txBody>
          <a:bodyPr lIns="45719" rIns="45719"/>
          <a:lstStyle/>
          <a:p>
            <a:pPr/>
          </a:p>
        </p:txBody>
      </p:sp>
      <p:sp>
        <p:nvSpPr>
          <p:cNvPr id="52" name="Text 9"/>
          <p:cNvSpPr txBox="1"/>
          <p:nvPr/>
        </p:nvSpPr>
        <p:spPr>
          <a:xfrm>
            <a:off x="3246120" y="1224280"/>
            <a:ext cx="260604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FFFFFF"/>
                </a:solidFill>
                <a:latin typeface="Cambria"/>
                <a:ea typeface="Cambria"/>
                <a:cs typeface="Cambria"/>
                <a:sym typeface="Cambria"/>
              </a:defRPr>
            </a:lvl1pPr>
          </a:lstStyle>
          <a:p>
            <a:pPr/>
            <a:r>
              <a:t>Grégory</a:t>
            </a:r>
          </a:p>
        </p:txBody>
      </p:sp>
      <p:sp>
        <p:nvSpPr>
          <p:cNvPr id="53" name="Text 10"/>
          <p:cNvSpPr txBox="1"/>
          <p:nvPr/>
        </p:nvSpPr>
        <p:spPr>
          <a:xfrm>
            <a:off x="3410711" y="1737360"/>
            <a:ext cx="2286001" cy="9089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77800" indent="-177800">
              <a:spcBef>
                <a:spcPts val="900"/>
              </a:spcBef>
              <a:buSzPct val="100000"/>
              <a:buChar char="•"/>
              <a:defRPr sz="1100">
                <a:solidFill>
                  <a:srgbClr val="22292D"/>
                </a:solidFill>
              </a:defRPr>
            </a:pPr>
            <a:r>
              <a:t>Développement de l'API Gateway : router, proxy, middlewares JWT, CORS et journalisation</a:t>
            </a:r>
          </a:p>
          <a:p>
            <a:pPr marL="177800" indent="-177800">
              <a:spcBef>
                <a:spcPts val="900"/>
              </a:spcBef>
              <a:buSzPct val="100000"/>
              <a:buChar char="•"/>
              <a:defRPr sz="1100">
                <a:solidFill>
                  <a:srgbClr val="22292D"/>
                </a:solidFill>
              </a:defRPr>
            </a:pPr>
            <a:r>
              <a:t>Document de présentation de l'architecture</a:t>
            </a:r>
          </a:p>
        </p:txBody>
      </p:sp>
      <p:sp>
        <p:nvSpPr>
          <p:cNvPr id="54" name="Shape 11"/>
          <p:cNvSpPr/>
          <p:nvPr/>
        </p:nvSpPr>
        <p:spPr>
          <a:xfrm>
            <a:off x="6035040" y="1097280"/>
            <a:ext cx="2606041" cy="3337560"/>
          </a:xfrm>
          <a:prstGeom prst="rect">
            <a:avLst/>
          </a:prstGeom>
          <a:solidFill>
            <a:srgbClr val="EAF2EF"/>
          </a:solidFill>
          <a:ln w="12700">
            <a:solidFill>
              <a:srgbClr val="EAF2EF"/>
            </a:solidFill>
          </a:ln>
        </p:spPr>
        <p:txBody>
          <a:bodyPr lIns="45719" rIns="45719"/>
          <a:lstStyle/>
          <a:p>
            <a:pPr/>
          </a:p>
        </p:txBody>
      </p:sp>
      <p:sp>
        <p:nvSpPr>
          <p:cNvPr id="55" name="Shape 12"/>
          <p:cNvSpPr/>
          <p:nvPr/>
        </p:nvSpPr>
        <p:spPr>
          <a:xfrm>
            <a:off x="6035040" y="1097280"/>
            <a:ext cx="2606041" cy="457201"/>
          </a:xfrm>
          <a:prstGeom prst="rect">
            <a:avLst/>
          </a:prstGeom>
          <a:solidFill>
            <a:srgbClr val="2F5D50"/>
          </a:solidFill>
          <a:ln w="12700">
            <a:solidFill>
              <a:srgbClr val="2F5D50"/>
            </a:solidFill>
          </a:ln>
        </p:spPr>
        <p:txBody>
          <a:bodyPr lIns="45719" rIns="45719"/>
          <a:lstStyle/>
          <a:p>
            <a:pPr/>
          </a:p>
        </p:txBody>
      </p:sp>
      <p:sp>
        <p:nvSpPr>
          <p:cNvPr id="56" name="Text 13"/>
          <p:cNvSpPr txBox="1"/>
          <p:nvPr/>
        </p:nvSpPr>
        <p:spPr>
          <a:xfrm>
            <a:off x="6035040" y="1224280"/>
            <a:ext cx="260604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FFFFFF"/>
                </a:solidFill>
                <a:latin typeface="Cambria"/>
                <a:ea typeface="Cambria"/>
                <a:cs typeface="Cambria"/>
                <a:sym typeface="Cambria"/>
              </a:defRPr>
            </a:lvl1pPr>
          </a:lstStyle>
          <a:p>
            <a:pPr/>
            <a:r>
              <a:t>Guillaume</a:t>
            </a:r>
          </a:p>
        </p:txBody>
      </p:sp>
      <p:sp>
        <p:nvSpPr>
          <p:cNvPr id="57" name="Text 14"/>
          <p:cNvSpPr txBox="1"/>
          <p:nvPr/>
        </p:nvSpPr>
        <p:spPr>
          <a:xfrm>
            <a:off x="6199632" y="1737360"/>
            <a:ext cx="2286001" cy="16328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77800" indent="-177800">
              <a:spcBef>
                <a:spcPts val="900"/>
              </a:spcBef>
              <a:buSzPct val="100000"/>
              <a:buChar char="•"/>
              <a:defRPr sz="1100">
                <a:solidFill>
                  <a:srgbClr val="22292D"/>
                </a:solidFill>
              </a:defRPr>
            </a:pPr>
            <a:r>
              <a:t>Front : page de connexion et dashboard</a:t>
            </a:r>
          </a:p>
          <a:p>
            <a:pPr marL="177800" indent="-177800">
              <a:spcBef>
                <a:spcPts val="900"/>
              </a:spcBef>
              <a:buSzPct val="100000"/>
              <a:buChar char="•"/>
              <a:defRPr sz="1100">
                <a:solidFill>
                  <a:srgbClr val="22292D"/>
                </a:solidFill>
              </a:defRPr>
            </a:pPr>
            <a:r>
              <a:t>Tests complémentaires des use cases et tests d'intégration API</a:t>
            </a:r>
          </a:p>
          <a:p>
            <a:pPr marL="177800" indent="-177800">
              <a:spcBef>
                <a:spcPts val="900"/>
              </a:spcBef>
              <a:buSzPct val="100000"/>
              <a:buChar char="•"/>
              <a:defRPr sz="1100">
                <a:solidFill>
                  <a:srgbClr val="22292D"/>
                </a:solidFill>
              </a:defRPr>
            </a:pPr>
            <a:r>
              <a:t>Route GET /accounts/{id}/transactions</a:t>
            </a:r>
          </a:p>
          <a:p>
            <a:pPr marL="177800" indent="-177800">
              <a:spcBef>
                <a:spcPts val="900"/>
              </a:spcBef>
              <a:buSzPct val="100000"/>
              <a:buChar char="•"/>
              <a:defRPr sz="1100">
                <a:solidFill>
                  <a:srgbClr val="22292D"/>
                </a:solidFill>
              </a:defRPr>
            </a:pPr>
            <a:r>
              <a:t>Correction SonarQube sur Transaction::reconstruct()</a:t>
            </a:r>
          </a:p>
        </p:txBody>
      </p:sp>
      <p:sp>
        <p:nvSpPr>
          <p:cNvPr id="58" name="Text 15"/>
          <p:cNvSpPr txBox="1"/>
          <p:nvPr/>
        </p:nvSpPr>
        <p:spPr>
          <a:xfrm>
            <a:off x="457200" y="4526279"/>
            <a:ext cx="8229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900">
                <a:solidFill>
                  <a:srgbClr val="6B767C"/>
                </a:solidFill>
              </a:defRPr>
            </a:lvl1pPr>
          </a:lstStyle>
          <a:p>
            <a:pPr/>
            <a:r>
              <a:t>D'après l'historique Git du dépôt.</a:t>
            </a:r>
          </a:p>
        </p:txBody>
      </p:sp>
      <p:sp>
        <p:nvSpPr>
          <p:cNvPr id="59" name="Slide Number Placeholder 0"/>
          <p:cNvSpPr txBox="1"/>
          <p:nvPr>
            <p:ph type="sldNum" sz="quarter" idx="4294967295"/>
          </p:nvPr>
        </p:nvSpPr>
        <p:spPr>
          <a:xfrm>
            <a:off x="8531165" y="4818888"/>
            <a:ext cx="155635" cy="19601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 name="Text 0"/>
          <p:cNvSpPr txBox="1"/>
          <p:nvPr/>
        </p:nvSpPr>
        <p:spPr>
          <a:xfrm>
            <a:off x="457200" y="256031"/>
            <a:ext cx="3657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00" sz="900">
                <a:solidFill>
                  <a:srgbClr val="B8672E"/>
                </a:solidFill>
              </a:defRPr>
            </a:lvl1pPr>
          </a:lstStyle>
          <a:p>
            <a:pPr/>
            <a:r>
              <a:t>LE SUJET</a:t>
            </a:r>
          </a:p>
        </p:txBody>
      </p:sp>
      <p:sp>
        <p:nvSpPr>
          <p:cNvPr id="64" name="Text 1"/>
          <p:cNvSpPr txBox="1"/>
          <p:nvPr/>
        </p:nvSpPr>
        <p:spPr>
          <a:xfrm>
            <a:off x="457200" y="530859"/>
            <a:ext cx="822960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400">
                <a:solidFill>
                  <a:srgbClr val="1F2A30"/>
                </a:solidFill>
                <a:latin typeface="Cambria"/>
                <a:ea typeface="Cambria"/>
                <a:cs typeface="Cambria"/>
                <a:sym typeface="Cambria"/>
              </a:defRPr>
            </a:lvl1pPr>
          </a:lstStyle>
          <a:p>
            <a:pPr/>
            <a:r>
              <a:t>Contexte et domaines métier</a:t>
            </a:r>
          </a:p>
        </p:txBody>
      </p:sp>
      <p:sp>
        <p:nvSpPr>
          <p:cNvPr id="65" name="Text 2"/>
          <p:cNvSpPr txBox="1"/>
          <p:nvPr/>
        </p:nvSpPr>
        <p:spPr>
          <a:xfrm>
            <a:off x="457200" y="4846320"/>
            <a:ext cx="64008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6B767C"/>
                </a:solidFill>
              </a:defRPr>
            </a:lvl1pPr>
          </a:lstStyle>
          <a:p>
            <a:pPr/>
            <a:r>
              <a:t>Application bancaire multi-services · Architecture hexagonale</a:t>
            </a:r>
          </a:p>
        </p:txBody>
      </p:sp>
      <p:sp>
        <p:nvSpPr>
          <p:cNvPr id="66" name="Text 3"/>
          <p:cNvSpPr txBox="1"/>
          <p:nvPr/>
        </p:nvSpPr>
        <p:spPr>
          <a:xfrm>
            <a:off x="457200" y="1143000"/>
            <a:ext cx="3200400" cy="863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1F2A30"/>
                </a:solidFill>
                <a:latin typeface="Cambria"/>
                <a:ea typeface="Cambria"/>
                <a:cs typeface="Cambria"/>
                <a:sym typeface="Cambria"/>
              </a:defRPr>
            </a:lvl1pPr>
          </a:lstStyle>
          <a:p>
            <a:pPr/>
            <a:r>
              <a:t>Concevoir un système bancaire structuré et évolutif, découpé en services indépendants et exposé par une API REST.</a:t>
            </a:r>
          </a:p>
        </p:txBody>
      </p:sp>
      <p:sp>
        <p:nvSpPr>
          <p:cNvPr id="67" name="Text 4"/>
          <p:cNvSpPr txBox="1"/>
          <p:nvPr/>
        </p:nvSpPr>
        <p:spPr>
          <a:xfrm>
            <a:off x="457200" y="2697479"/>
            <a:ext cx="3108961"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6B767C"/>
                </a:solidFill>
              </a:defRPr>
            </a:lvl1pPr>
          </a:lstStyle>
          <a:p>
            <a:pPr/>
            <a:r>
              <a:t>Quatre domaines métier, chacun porté par un microservice.</a:t>
            </a:r>
          </a:p>
        </p:txBody>
      </p:sp>
      <p:sp>
        <p:nvSpPr>
          <p:cNvPr id="68" name="Shape 5"/>
          <p:cNvSpPr/>
          <p:nvPr/>
        </p:nvSpPr>
        <p:spPr>
          <a:xfrm>
            <a:off x="3931920" y="1143000"/>
            <a:ext cx="2286001" cy="1463041"/>
          </a:xfrm>
          <a:prstGeom prst="rect">
            <a:avLst/>
          </a:prstGeom>
          <a:solidFill>
            <a:srgbClr val="EAF2EF"/>
          </a:solidFill>
          <a:ln w="12700">
            <a:solidFill>
              <a:srgbClr val="EAF2EF"/>
            </a:solidFill>
          </a:ln>
        </p:spPr>
        <p:txBody>
          <a:bodyPr lIns="45719" rIns="45719"/>
          <a:lstStyle/>
          <a:p>
            <a:pPr/>
          </a:p>
        </p:txBody>
      </p:sp>
      <p:sp>
        <p:nvSpPr>
          <p:cNvPr id="69" name="Text 6"/>
          <p:cNvSpPr txBox="1"/>
          <p:nvPr/>
        </p:nvSpPr>
        <p:spPr>
          <a:xfrm>
            <a:off x="4096511" y="1393392"/>
            <a:ext cx="41148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1F2A30"/>
                </a:solidFill>
                <a:latin typeface="Cambria"/>
                <a:ea typeface="Cambria"/>
                <a:cs typeface="Cambria"/>
                <a:sym typeface="Cambria"/>
              </a:defRPr>
            </a:lvl1pPr>
          </a:lstStyle>
          <a:p>
            <a:pPr/>
            <a:r>
              <a:t>1</a:t>
            </a:r>
          </a:p>
        </p:txBody>
      </p:sp>
      <p:sp>
        <p:nvSpPr>
          <p:cNvPr id="70" name="Text 7"/>
          <p:cNvSpPr txBox="1"/>
          <p:nvPr/>
        </p:nvSpPr>
        <p:spPr>
          <a:xfrm>
            <a:off x="4617720" y="1298447"/>
            <a:ext cx="155448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1F2A30"/>
                </a:solidFill>
                <a:latin typeface="Cambria Bold"/>
                <a:ea typeface="Cambria Bold"/>
                <a:cs typeface="Cambria Bold"/>
                <a:sym typeface="Cambria Bold"/>
              </a:defRPr>
            </a:lvl1pPr>
          </a:lstStyle>
          <a:p>
            <a:pPr/>
            <a:r>
              <a:t>Service Login</a:t>
            </a:r>
          </a:p>
        </p:txBody>
      </p:sp>
      <p:sp>
        <p:nvSpPr>
          <p:cNvPr id="71" name="Text 8"/>
          <p:cNvSpPr txBox="1"/>
          <p:nvPr/>
        </p:nvSpPr>
        <p:spPr>
          <a:xfrm>
            <a:off x="4617720" y="1554480"/>
            <a:ext cx="15544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900">
                <a:solidFill>
                  <a:srgbClr val="2F5D50"/>
                </a:solidFill>
              </a:defRPr>
            </a:lvl1pPr>
          </a:lstStyle>
          <a:p>
            <a:pPr/>
            <a:r>
              <a:t>entité : Utilisateur</a:t>
            </a:r>
          </a:p>
        </p:txBody>
      </p:sp>
      <p:sp>
        <p:nvSpPr>
          <p:cNvPr id="72" name="Text 9"/>
          <p:cNvSpPr txBox="1"/>
          <p:nvPr/>
        </p:nvSpPr>
        <p:spPr>
          <a:xfrm>
            <a:off x="4096511" y="1874520"/>
            <a:ext cx="1965962" cy="2993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2292D"/>
                </a:solidFill>
              </a:defRPr>
            </a:lvl1pPr>
          </a:lstStyle>
          <a:p>
            <a:pPr/>
            <a:r>
              <a:t>Inscription, connexion et génération du jeton JWT.</a:t>
            </a:r>
          </a:p>
        </p:txBody>
      </p:sp>
      <p:sp>
        <p:nvSpPr>
          <p:cNvPr id="73" name="Shape 10"/>
          <p:cNvSpPr/>
          <p:nvPr/>
        </p:nvSpPr>
        <p:spPr>
          <a:xfrm>
            <a:off x="6400800" y="1143000"/>
            <a:ext cx="2286000" cy="1463041"/>
          </a:xfrm>
          <a:prstGeom prst="rect">
            <a:avLst/>
          </a:prstGeom>
          <a:solidFill>
            <a:srgbClr val="EAF2EF"/>
          </a:solidFill>
          <a:ln w="12700">
            <a:solidFill>
              <a:srgbClr val="EAF2EF"/>
            </a:solidFill>
          </a:ln>
        </p:spPr>
        <p:txBody>
          <a:bodyPr lIns="45719" rIns="45719"/>
          <a:lstStyle/>
          <a:p>
            <a:pPr/>
          </a:p>
        </p:txBody>
      </p:sp>
      <p:sp>
        <p:nvSpPr>
          <p:cNvPr id="74" name="Text 11"/>
          <p:cNvSpPr txBox="1"/>
          <p:nvPr/>
        </p:nvSpPr>
        <p:spPr>
          <a:xfrm>
            <a:off x="6565392" y="1393392"/>
            <a:ext cx="41148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1F2A30"/>
                </a:solidFill>
                <a:latin typeface="Cambria"/>
                <a:ea typeface="Cambria"/>
                <a:cs typeface="Cambria"/>
                <a:sym typeface="Cambria"/>
              </a:defRPr>
            </a:lvl1pPr>
          </a:lstStyle>
          <a:p>
            <a:pPr/>
            <a:r>
              <a:t>2</a:t>
            </a:r>
          </a:p>
        </p:txBody>
      </p:sp>
      <p:sp>
        <p:nvSpPr>
          <p:cNvPr id="75" name="Text 12"/>
          <p:cNvSpPr txBox="1"/>
          <p:nvPr/>
        </p:nvSpPr>
        <p:spPr>
          <a:xfrm>
            <a:off x="7086600" y="1298447"/>
            <a:ext cx="155448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1F2A30"/>
                </a:solidFill>
                <a:latin typeface="Cambria Bold"/>
                <a:ea typeface="Cambria Bold"/>
                <a:cs typeface="Cambria Bold"/>
                <a:sym typeface="Cambria Bold"/>
              </a:defRPr>
            </a:lvl1pPr>
          </a:lstStyle>
          <a:p>
            <a:pPr/>
            <a:r>
              <a:t>Service Client</a:t>
            </a:r>
          </a:p>
        </p:txBody>
      </p:sp>
      <p:sp>
        <p:nvSpPr>
          <p:cNvPr id="76" name="Text 13"/>
          <p:cNvSpPr txBox="1"/>
          <p:nvPr/>
        </p:nvSpPr>
        <p:spPr>
          <a:xfrm>
            <a:off x="7086600" y="1554480"/>
            <a:ext cx="15544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900">
                <a:solidFill>
                  <a:srgbClr val="2F5D50"/>
                </a:solidFill>
              </a:defRPr>
            </a:lvl1pPr>
          </a:lstStyle>
          <a:p>
            <a:pPr/>
            <a:r>
              <a:t>entité : Client</a:t>
            </a:r>
          </a:p>
        </p:txBody>
      </p:sp>
      <p:sp>
        <p:nvSpPr>
          <p:cNvPr id="77" name="Text 14"/>
          <p:cNvSpPr txBox="1"/>
          <p:nvPr/>
        </p:nvSpPr>
        <p:spPr>
          <a:xfrm>
            <a:off x="6565392" y="1874520"/>
            <a:ext cx="1965961" cy="2993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2292D"/>
                </a:solidFill>
              </a:defRPr>
            </a:lvl1pPr>
          </a:lstStyle>
          <a:p>
            <a:pPr/>
            <a:r>
              <a:t>Création et consultation des clients.</a:t>
            </a:r>
          </a:p>
        </p:txBody>
      </p:sp>
      <p:sp>
        <p:nvSpPr>
          <p:cNvPr id="78" name="Shape 15"/>
          <p:cNvSpPr/>
          <p:nvPr/>
        </p:nvSpPr>
        <p:spPr>
          <a:xfrm>
            <a:off x="3931920" y="2788920"/>
            <a:ext cx="2286001" cy="1463041"/>
          </a:xfrm>
          <a:prstGeom prst="rect">
            <a:avLst/>
          </a:prstGeom>
          <a:solidFill>
            <a:srgbClr val="EAF2EF"/>
          </a:solidFill>
          <a:ln w="12700">
            <a:solidFill>
              <a:srgbClr val="EAF2EF"/>
            </a:solidFill>
          </a:ln>
        </p:spPr>
        <p:txBody>
          <a:bodyPr lIns="45719" rIns="45719"/>
          <a:lstStyle/>
          <a:p>
            <a:pPr/>
          </a:p>
        </p:txBody>
      </p:sp>
      <p:sp>
        <p:nvSpPr>
          <p:cNvPr id="79" name="Text 16"/>
          <p:cNvSpPr txBox="1"/>
          <p:nvPr/>
        </p:nvSpPr>
        <p:spPr>
          <a:xfrm>
            <a:off x="4096511" y="3039312"/>
            <a:ext cx="41148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1F2A30"/>
                </a:solidFill>
                <a:latin typeface="Cambria"/>
                <a:ea typeface="Cambria"/>
                <a:cs typeface="Cambria"/>
                <a:sym typeface="Cambria"/>
              </a:defRPr>
            </a:lvl1pPr>
          </a:lstStyle>
          <a:p>
            <a:pPr/>
            <a:r>
              <a:t>3</a:t>
            </a:r>
          </a:p>
        </p:txBody>
      </p:sp>
      <p:sp>
        <p:nvSpPr>
          <p:cNvPr id="80" name="Text 17"/>
          <p:cNvSpPr txBox="1"/>
          <p:nvPr/>
        </p:nvSpPr>
        <p:spPr>
          <a:xfrm>
            <a:off x="4617720" y="2944367"/>
            <a:ext cx="155448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1F2A30"/>
                </a:solidFill>
                <a:latin typeface="Cambria Bold"/>
                <a:ea typeface="Cambria Bold"/>
                <a:cs typeface="Cambria Bold"/>
                <a:sym typeface="Cambria Bold"/>
              </a:defRPr>
            </a:lvl1pPr>
          </a:lstStyle>
          <a:p>
            <a:pPr/>
            <a:r>
              <a:t>Service Compte</a:t>
            </a:r>
          </a:p>
        </p:txBody>
      </p:sp>
      <p:sp>
        <p:nvSpPr>
          <p:cNvPr id="81" name="Text 18"/>
          <p:cNvSpPr txBox="1"/>
          <p:nvPr/>
        </p:nvSpPr>
        <p:spPr>
          <a:xfrm>
            <a:off x="4617720" y="3200400"/>
            <a:ext cx="1554481"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900">
                <a:solidFill>
                  <a:srgbClr val="2F5D50"/>
                </a:solidFill>
              </a:defRPr>
            </a:lvl1pPr>
          </a:lstStyle>
          <a:p>
            <a:pPr/>
            <a:r>
              <a:t>entité : Compte</a:t>
            </a:r>
          </a:p>
        </p:txBody>
      </p:sp>
      <p:sp>
        <p:nvSpPr>
          <p:cNvPr id="82" name="Text 19"/>
          <p:cNvSpPr txBox="1"/>
          <p:nvPr/>
        </p:nvSpPr>
        <p:spPr>
          <a:xfrm>
            <a:off x="4096511" y="3520440"/>
            <a:ext cx="196596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2292D"/>
                </a:solidFill>
              </a:defRPr>
            </a:lvl1pPr>
          </a:lstStyle>
          <a:p>
            <a:pPr/>
            <a:r>
              <a:t>Solde, dépôts, retraits et blocage.</a:t>
            </a:r>
          </a:p>
        </p:txBody>
      </p:sp>
      <p:sp>
        <p:nvSpPr>
          <p:cNvPr id="83" name="Shape 20"/>
          <p:cNvSpPr/>
          <p:nvPr/>
        </p:nvSpPr>
        <p:spPr>
          <a:xfrm>
            <a:off x="6400800" y="2788920"/>
            <a:ext cx="2286000" cy="1463041"/>
          </a:xfrm>
          <a:prstGeom prst="rect">
            <a:avLst/>
          </a:prstGeom>
          <a:solidFill>
            <a:srgbClr val="EAF2EF"/>
          </a:solidFill>
          <a:ln w="12700">
            <a:solidFill>
              <a:srgbClr val="EAF2EF"/>
            </a:solidFill>
          </a:ln>
        </p:spPr>
        <p:txBody>
          <a:bodyPr lIns="45719" rIns="45719"/>
          <a:lstStyle/>
          <a:p>
            <a:pPr/>
          </a:p>
        </p:txBody>
      </p:sp>
      <p:sp>
        <p:nvSpPr>
          <p:cNvPr id="84" name="Text 21"/>
          <p:cNvSpPr txBox="1"/>
          <p:nvPr/>
        </p:nvSpPr>
        <p:spPr>
          <a:xfrm>
            <a:off x="6565392" y="3039312"/>
            <a:ext cx="41148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1F2A30"/>
                </a:solidFill>
                <a:latin typeface="Cambria"/>
                <a:ea typeface="Cambria"/>
                <a:cs typeface="Cambria"/>
                <a:sym typeface="Cambria"/>
              </a:defRPr>
            </a:lvl1pPr>
          </a:lstStyle>
          <a:p>
            <a:pPr/>
            <a:r>
              <a:t>4</a:t>
            </a:r>
          </a:p>
        </p:txBody>
      </p:sp>
      <p:sp>
        <p:nvSpPr>
          <p:cNvPr id="85" name="Text 22"/>
          <p:cNvSpPr txBox="1"/>
          <p:nvPr/>
        </p:nvSpPr>
        <p:spPr>
          <a:xfrm>
            <a:off x="7086600" y="2944367"/>
            <a:ext cx="155448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1F2A30"/>
                </a:solidFill>
                <a:latin typeface="Cambria Bold"/>
                <a:ea typeface="Cambria Bold"/>
                <a:cs typeface="Cambria Bold"/>
                <a:sym typeface="Cambria Bold"/>
              </a:defRPr>
            </a:lvl1pPr>
          </a:lstStyle>
          <a:p>
            <a:pPr/>
            <a:r>
              <a:t>Service Transaction</a:t>
            </a:r>
          </a:p>
        </p:txBody>
      </p:sp>
      <p:sp>
        <p:nvSpPr>
          <p:cNvPr id="86" name="Text 23"/>
          <p:cNvSpPr txBox="1"/>
          <p:nvPr/>
        </p:nvSpPr>
        <p:spPr>
          <a:xfrm>
            <a:off x="7086600" y="3200400"/>
            <a:ext cx="1554481"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900">
                <a:solidFill>
                  <a:srgbClr val="2F5D50"/>
                </a:solidFill>
              </a:defRPr>
            </a:lvl1pPr>
          </a:lstStyle>
          <a:p>
            <a:pPr/>
            <a:r>
              <a:t>entité : Transaction</a:t>
            </a:r>
          </a:p>
        </p:txBody>
      </p:sp>
      <p:sp>
        <p:nvSpPr>
          <p:cNvPr id="87" name="Text 24"/>
          <p:cNvSpPr txBox="1"/>
          <p:nvPr/>
        </p:nvSpPr>
        <p:spPr>
          <a:xfrm>
            <a:off x="6565392" y="3520440"/>
            <a:ext cx="1965961" cy="2993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2292D"/>
                </a:solidFill>
              </a:defRPr>
            </a:lvl1pPr>
          </a:lstStyle>
          <a:p>
            <a:pPr/>
            <a:r>
              <a:t>Virements et historique par compte.</a:t>
            </a:r>
          </a:p>
        </p:txBody>
      </p:sp>
      <p:sp>
        <p:nvSpPr>
          <p:cNvPr id="88" name="Slide Number Placeholder 0"/>
          <p:cNvSpPr txBox="1"/>
          <p:nvPr>
            <p:ph type="sldNum" sz="quarter" idx="4294967295"/>
          </p:nvPr>
        </p:nvSpPr>
        <p:spPr>
          <a:xfrm>
            <a:off x="8531165" y="4818888"/>
            <a:ext cx="155635" cy="19601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92" name="vidéo-collée.png" descr="vidéo-collée.png"/>
          <p:cNvPicPr>
            <a:picLocks noChangeAspect="1"/>
          </p:cNvPicPr>
          <p:nvPr/>
        </p:nvPicPr>
        <p:blipFill>
          <a:blip r:embed="rId3">
            <a:extLst/>
          </a:blip>
          <a:stretch>
            <a:fillRect/>
          </a:stretch>
        </p:blipFill>
        <p:spPr>
          <a:xfrm>
            <a:off x="1846" y="0"/>
            <a:ext cx="9140308" cy="5143500"/>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6" name="Text 0"/>
          <p:cNvSpPr txBox="1"/>
          <p:nvPr/>
        </p:nvSpPr>
        <p:spPr>
          <a:xfrm>
            <a:off x="457200" y="256031"/>
            <a:ext cx="3657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00" sz="900">
                <a:solidFill>
                  <a:srgbClr val="B8672E"/>
                </a:solidFill>
              </a:defRPr>
            </a:lvl1pPr>
          </a:lstStyle>
          <a:p>
            <a:pPr/>
            <a:r>
              <a:t>LA SOLUTION</a:t>
            </a:r>
          </a:p>
        </p:txBody>
      </p:sp>
      <p:sp>
        <p:nvSpPr>
          <p:cNvPr id="97" name="Text 1"/>
          <p:cNvSpPr txBox="1"/>
          <p:nvPr/>
        </p:nvSpPr>
        <p:spPr>
          <a:xfrm>
            <a:off x="457200" y="530859"/>
            <a:ext cx="822960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400">
                <a:solidFill>
                  <a:srgbClr val="1F2A30"/>
                </a:solidFill>
                <a:latin typeface="Cambria"/>
                <a:ea typeface="Cambria"/>
                <a:cs typeface="Cambria"/>
                <a:sym typeface="Cambria"/>
              </a:defRPr>
            </a:lvl1pPr>
          </a:lstStyle>
          <a:p>
            <a:pPr/>
            <a:r>
              <a:t>Découpage en microservices</a:t>
            </a:r>
          </a:p>
        </p:txBody>
      </p:sp>
      <p:sp>
        <p:nvSpPr>
          <p:cNvPr id="98" name="Text 2"/>
          <p:cNvSpPr txBox="1"/>
          <p:nvPr/>
        </p:nvSpPr>
        <p:spPr>
          <a:xfrm>
            <a:off x="457200" y="4846320"/>
            <a:ext cx="64008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6B767C"/>
                </a:solidFill>
              </a:defRPr>
            </a:lvl1pPr>
          </a:lstStyle>
          <a:p>
            <a:pPr/>
            <a:r>
              <a:t>Application bancaire multi-services · Architecture hexagonale</a:t>
            </a:r>
          </a:p>
        </p:txBody>
      </p:sp>
      <p:sp>
        <p:nvSpPr>
          <p:cNvPr id="99" name="Shape 3"/>
          <p:cNvSpPr/>
          <p:nvPr/>
        </p:nvSpPr>
        <p:spPr>
          <a:xfrm>
            <a:off x="457199" y="2331720"/>
            <a:ext cx="1234442" cy="731521"/>
          </a:xfrm>
          <a:prstGeom prst="rect">
            <a:avLst/>
          </a:prstGeom>
          <a:solidFill>
            <a:srgbClr val="EAF2EF"/>
          </a:solidFill>
          <a:ln w="12700">
            <a:solidFill>
              <a:srgbClr val="C7DBD3"/>
            </a:solidFill>
          </a:ln>
        </p:spPr>
        <p:txBody>
          <a:bodyPr lIns="45719" rIns="45719"/>
          <a:lstStyle/>
          <a:p>
            <a:pPr/>
          </a:p>
        </p:txBody>
      </p:sp>
      <p:sp>
        <p:nvSpPr>
          <p:cNvPr id="100" name="Text 4"/>
          <p:cNvSpPr txBox="1"/>
          <p:nvPr/>
        </p:nvSpPr>
        <p:spPr>
          <a:xfrm>
            <a:off x="457199" y="2547796"/>
            <a:ext cx="1234442" cy="2993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100">
                <a:solidFill>
                  <a:srgbClr val="1F2A30"/>
                </a:solidFill>
              </a:defRPr>
            </a:pPr>
            <a:r>
              <a:t>Front</a:t>
            </a:r>
          </a:p>
          <a:p>
            <a:pPr algn="ctr">
              <a:defRPr b="1" sz="1100">
                <a:solidFill>
                  <a:srgbClr val="1F2A30"/>
                </a:solidFill>
              </a:defRPr>
            </a:pPr>
            <a:r>
              <a:t>:3000</a:t>
            </a:r>
          </a:p>
        </p:txBody>
      </p:sp>
      <p:sp>
        <p:nvSpPr>
          <p:cNvPr id="101" name="Shape 5"/>
          <p:cNvSpPr/>
          <p:nvPr/>
        </p:nvSpPr>
        <p:spPr>
          <a:xfrm>
            <a:off x="1709927" y="2697479"/>
            <a:ext cx="603505" cy="1"/>
          </a:xfrm>
          <a:prstGeom prst="line">
            <a:avLst/>
          </a:prstGeom>
          <a:ln w="15875">
            <a:solidFill>
              <a:srgbClr val="6B767C"/>
            </a:solidFill>
            <a:tailEnd type="triangle"/>
          </a:ln>
        </p:spPr>
        <p:txBody>
          <a:bodyPr lIns="45719" rIns="45719"/>
          <a:lstStyle/>
          <a:p>
            <a:pPr/>
          </a:p>
        </p:txBody>
      </p:sp>
      <p:sp>
        <p:nvSpPr>
          <p:cNvPr id="102" name="Shape 6"/>
          <p:cNvSpPr/>
          <p:nvPr/>
        </p:nvSpPr>
        <p:spPr>
          <a:xfrm>
            <a:off x="2331720" y="2011679"/>
            <a:ext cx="1463041" cy="1371601"/>
          </a:xfrm>
          <a:prstGeom prst="rect">
            <a:avLst/>
          </a:prstGeom>
          <a:solidFill>
            <a:srgbClr val="1F2A30"/>
          </a:solidFill>
          <a:ln w="12700">
            <a:solidFill>
              <a:srgbClr val="1F2A30"/>
            </a:solidFill>
          </a:ln>
        </p:spPr>
        <p:txBody>
          <a:bodyPr lIns="45719" rIns="45719"/>
          <a:lstStyle/>
          <a:p>
            <a:pPr/>
          </a:p>
        </p:txBody>
      </p:sp>
      <p:sp>
        <p:nvSpPr>
          <p:cNvPr id="103" name="Text 7"/>
          <p:cNvSpPr txBox="1"/>
          <p:nvPr/>
        </p:nvSpPr>
        <p:spPr>
          <a:xfrm>
            <a:off x="2331720" y="2523797"/>
            <a:ext cx="1463041"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solidFill>
                  <a:srgbClr val="FFFFFF"/>
                </a:solidFill>
              </a:defRPr>
            </a:pPr>
            <a:r>
              <a:t>API Gateway</a:t>
            </a:r>
          </a:p>
          <a:p>
            <a:pPr algn="ctr">
              <a:defRPr b="1" sz="1200">
                <a:solidFill>
                  <a:srgbClr val="FFFFFF"/>
                </a:solidFill>
              </a:defRPr>
            </a:pPr>
            <a:r>
              <a:t>:8080</a:t>
            </a:r>
          </a:p>
        </p:txBody>
      </p:sp>
      <p:sp>
        <p:nvSpPr>
          <p:cNvPr id="104" name="Shape 8"/>
          <p:cNvSpPr/>
          <p:nvPr/>
        </p:nvSpPr>
        <p:spPr>
          <a:xfrm flipV="1">
            <a:off x="3813047" y="1444752"/>
            <a:ext cx="740665" cy="1252729"/>
          </a:xfrm>
          <a:prstGeom prst="line">
            <a:avLst/>
          </a:prstGeom>
          <a:ln w="15875">
            <a:solidFill>
              <a:srgbClr val="6B767C"/>
            </a:solidFill>
            <a:tailEnd type="triangle"/>
          </a:ln>
        </p:spPr>
        <p:txBody>
          <a:bodyPr lIns="45719" rIns="45719"/>
          <a:lstStyle/>
          <a:p>
            <a:pPr/>
          </a:p>
        </p:txBody>
      </p:sp>
      <p:sp>
        <p:nvSpPr>
          <p:cNvPr id="105" name="Shape 9"/>
          <p:cNvSpPr/>
          <p:nvPr/>
        </p:nvSpPr>
        <p:spPr>
          <a:xfrm>
            <a:off x="4572000" y="1143000"/>
            <a:ext cx="2103121" cy="621792"/>
          </a:xfrm>
          <a:prstGeom prst="rect">
            <a:avLst/>
          </a:prstGeom>
          <a:solidFill>
            <a:srgbClr val="EAF2EF"/>
          </a:solidFill>
          <a:ln w="15875">
            <a:solidFill>
              <a:srgbClr val="EAF2EF"/>
            </a:solidFill>
          </a:ln>
        </p:spPr>
        <p:txBody>
          <a:bodyPr lIns="45719" rIns="45719"/>
          <a:lstStyle/>
          <a:p>
            <a:pPr/>
          </a:p>
        </p:txBody>
      </p:sp>
      <p:sp>
        <p:nvSpPr>
          <p:cNvPr id="106" name="Text 10"/>
          <p:cNvSpPr txBox="1"/>
          <p:nvPr/>
        </p:nvSpPr>
        <p:spPr>
          <a:xfrm>
            <a:off x="4681728" y="1207008"/>
            <a:ext cx="192024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1F2A30"/>
                </a:solidFill>
                <a:latin typeface="Cambria"/>
                <a:ea typeface="Cambria"/>
                <a:cs typeface="Cambria"/>
                <a:sym typeface="Cambria"/>
              </a:defRPr>
            </a:lvl1pPr>
          </a:lstStyle>
          <a:p>
            <a:pPr/>
            <a:r>
              <a:t>Service Login</a:t>
            </a:r>
          </a:p>
        </p:txBody>
      </p:sp>
      <p:sp>
        <p:nvSpPr>
          <p:cNvPr id="107" name="Text 11"/>
          <p:cNvSpPr txBox="1"/>
          <p:nvPr/>
        </p:nvSpPr>
        <p:spPr>
          <a:xfrm>
            <a:off x="4681728" y="1472183"/>
            <a:ext cx="192024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B767C"/>
                </a:solidFill>
              </a:defRPr>
            </a:lvl1pPr>
          </a:lstStyle>
          <a:p>
            <a:pPr/>
            <a:r>
              <a:t>Authentification, JWT</a:t>
            </a:r>
          </a:p>
        </p:txBody>
      </p:sp>
      <p:sp>
        <p:nvSpPr>
          <p:cNvPr id="108" name="Shape 12"/>
          <p:cNvSpPr/>
          <p:nvPr/>
        </p:nvSpPr>
        <p:spPr>
          <a:xfrm flipV="1">
            <a:off x="3813047" y="2267711"/>
            <a:ext cx="740665" cy="429769"/>
          </a:xfrm>
          <a:prstGeom prst="line">
            <a:avLst/>
          </a:prstGeom>
          <a:ln w="15875">
            <a:solidFill>
              <a:srgbClr val="6B767C"/>
            </a:solidFill>
            <a:tailEnd type="triangle"/>
          </a:ln>
        </p:spPr>
        <p:txBody>
          <a:bodyPr lIns="45719" rIns="45719"/>
          <a:lstStyle/>
          <a:p>
            <a:pPr/>
          </a:p>
        </p:txBody>
      </p:sp>
      <p:sp>
        <p:nvSpPr>
          <p:cNvPr id="109" name="Shape 13"/>
          <p:cNvSpPr/>
          <p:nvPr/>
        </p:nvSpPr>
        <p:spPr>
          <a:xfrm>
            <a:off x="4572000" y="1965960"/>
            <a:ext cx="2103121" cy="621793"/>
          </a:xfrm>
          <a:prstGeom prst="rect">
            <a:avLst/>
          </a:prstGeom>
          <a:solidFill>
            <a:srgbClr val="EAF2EF"/>
          </a:solidFill>
          <a:ln w="15875">
            <a:solidFill>
              <a:srgbClr val="EAF2EF"/>
            </a:solidFill>
          </a:ln>
        </p:spPr>
        <p:txBody>
          <a:bodyPr lIns="45719" rIns="45719"/>
          <a:lstStyle/>
          <a:p>
            <a:pPr/>
          </a:p>
        </p:txBody>
      </p:sp>
      <p:sp>
        <p:nvSpPr>
          <p:cNvPr id="110" name="Text 14"/>
          <p:cNvSpPr txBox="1"/>
          <p:nvPr/>
        </p:nvSpPr>
        <p:spPr>
          <a:xfrm>
            <a:off x="4681728" y="2029967"/>
            <a:ext cx="192024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1F2A30"/>
                </a:solidFill>
                <a:latin typeface="Cambria"/>
                <a:ea typeface="Cambria"/>
                <a:cs typeface="Cambria"/>
                <a:sym typeface="Cambria"/>
              </a:defRPr>
            </a:lvl1pPr>
          </a:lstStyle>
          <a:p>
            <a:pPr/>
            <a:r>
              <a:t>Service Client</a:t>
            </a:r>
          </a:p>
        </p:txBody>
      </p:sp>
      <p:sp>
        <p:nvSpPr>
          <p:cNvPr id="111" name="Text 15"/>
          <p:cNvSpPr txBox="1"/>
          <p:nvPr/>
        </p:nvSpPr>
        <p:spPr>
          <a:xfrm>
            <a:off x="4681728" y="2295144"/>
            <a:ext cx="192024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B767C"/>
                </a:solidFill>
              </a:defRPr>
            </a:lvl1pPr>
          </a:lstStyle>
          <a:p>
            <a:pPr/>
            <a:r>
              <a:t>Clients</a:t>
            </a:r>
          </a:p>
        </p:txBody>
      </p:sp>
      <p:sp>
        <p:nvSpPr>
          <p:cNvPr id="112" name="Shape 16"/>
          <p:cNvSpPr/>
          <p:nvPr/>
        </p:nvSpPr>
        <p:spPr>
          <a:xfrm>
            <a:off x="3813047" y="2697479"/>
            <a:ext cx="740665" cy="393193"/>
          </a:xfrm>
          <a:prstGeom prst="line">
            <a:avLst/>
          </a:prstGeom>
          <a:ln w="15875">
            <a:solidFill>
              <a:srgbClr val="6B767C"/>
            </a:solidFill>
            <a:tailEnd type="triangle"/>
          </a:ln>
        </p:spPr>
        <p:txBody>
          <a:bodyPr lIns="45719" rIns="45719"/>
          <a:lstStyle/>
          <a:p>
            <a:pPr/>
          </a:p>
        </p:txBody>
      </p:sp>
      <p:sp>
        <p:nvSpPr>
          <p:cNvPr id="113" name="Shape 17"/>
          <p:cNvSpPr/>
          <p:nvPr/>
        </p:nvSpPr>
        <p:spPr>
          <a:xfrm>
            <a:off x="4572000" y="2788920"/>
            <a:ext cx="2103121" cy="621793"/>
          </a:xfrm>
          <a:prstGeom prst="rect">
            <a:avLst/>
          </a:prstGeom>
          <a:solidFill>
            <a:srgbClr val="EAF2EF"/>
          </a:solidFill>
          <a:ln w="15875">
            <a:solidFill>
              <a:srgbClr val="EAF2EF"/>
            </a:solidFill>
          </a:ln>
        </p:spPr>
        <p:txBody>
          <a:bodyPr lIns="45719" rIns="45719"/>
          <a:lstStyle/>
          <a:p>
            <a:pPr/>
          </a:p>
        </p:txBody>
      </p:sp>
      <p:sp>
        <p:nvSpPr>
          <p:cNvPr id="114" name="Text 18"/>
          <p:cNvSpPr txBox="1"/>
          <p:nvPr/>
        </p:nvSpPr>
        <p:spPr>
          <a:xfrm>
            <a:off x="4681728" y="2852927"/>
            <a:ext cx="192024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1F2A30"/>
                </a:solidFill>
                <a:latin typeface="Cambria"/>
                <a:ea typeface="Cambria"/>
                <a:cs typeface="Cambria"/>
                <a:sym typeface="Cambria"/>
              </a:defRPr>
            </a:lvl1pPr>
          </a:lstStyle>
          <a:p>
            <a:pPr/>
            <a:r>
              <a:t>Service Compte</a:t>
            </a:r>
          </a:p>
        </p:txBody>
      </p:sp>
      <p:sp>
        <p:nvSpPr>
          <p:cNvPr id="115" name="Text 19"/>
          <p:cNvSpPr txBox="1"/>
          <p:nvPr/>
        </p:nvSpPr>
        <p:spPr>
          <a:xfrm>
            <a:off x="4681728" y="3118104"/>
            <a:ext cx="192024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B767C"/>
                </a:solidFill>
              </a:defRPr>
            </a:lvl1pPr>
          </a:lstStyle>
          <a:p>
            <a:pPr/>
            <a:r>
              <a:t>Solde, dépôt, retrait</a:t>
            </a:r>
          </a:p>
        </p:txBody>
      </p:sp>
      <p:sp>
        <p:nvSpPr>
          <p:cNvPr id="116" name="Shape 20"/>
          <p:cNvSpPr/>
          <p:nvPr/>
        </p:nvSpPr>
        <p:spPr>
          <a:xfrm>
            <a:off x="3813047" y="2697479"/>
            <a:ext cx="740665" cy="1216154"/>
          </a:xfrm>
          <a:prstGeom prst="line">
            <a:avLst/>
          </a:prstGeom>
          <a:ln w="15875">
            <a:solidFill>
              <a:srgbClr val="6B767C"/>
            </a:solidFill>
            <a:tailEnd type="triangle"/>
          </a:ln>
        </p:spPr>
        <p:txBody>
          <a:bodyPr lIns="45719" rIns="45719"/>
          <a:lstStyle/>
          <a:p>
            <a:pPr/>
          </a:p>
        </p:txBody>
      </p:sp>
      <p:sp>
        <p:nvSpPr>
          <p:cNvPr id="117" name="Shape 21"/>
          <p:cNvSpPr/>
          <p:nvPr/>
        </p:nvSpPr>
        <p:spPr>
          <a:xfrm>
            <a:off x="4572000" y="3611879"/>
            <a:ext cx="2103121" cy="621793"/>
          </a:xfrm>
          <a:prstGeom prst="rect">
            <a:avLst/>
          </a:prstGeom>
          <a:solidFill>
            <a:srgbClr val="EAF2EF"/>
          </a:solidFill>
          <a:ln w="15875">
            <a:solidFill>
              <a:srgbClr val="B8672E"/>
            </a:solidFill>
          </a:ln>
        </p:spPr>
        <p:txBody>
          <a:bodyPr lIns="45719" rIns="45719"/>
          <a:lstStyle/>
          <a:p>
            <a:pPr/>
          </a:p>
        </p:txBody>
      </p:sp>
      <p:sp>
        <p:nvSpPr>
          <p:cNvPr id="118" name="Text 22"/>
          <p:cNvSpPr txBox="1"/>
          <p:nvPr/>
        </p:nvSpPr>
        <p:spPr>
          <a:xfrm>
            <a:off x="4681728" y="3675888"/>
            <a:ext cx="192024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1F2A30"/>
                </a:solidFill>
                <a:latin typeface="Cambria"/>
                <a:ea typeface="Cambria"/>
                <a:cs typeface="Cambria"/>
                <a:sym typeface="Cambria"/>
              </a:defRPr>
            </a:lvl1pPr>
          </a:lstStyle>
          <a:p>
            <a:pPr/>
            <a:r>
              <a:t>Service Transaction</a:t>
            </a:r>
          </a:p>
        </p:txBody>
      </p:sp>
      <p:sp>
        <p:nvSpPr>
          <p:cNvPr id="119" name="Text 23"/>
          <p:cNvSpPr txBox="1"/>
          <p:nvPr/>
        </p:nvSpPr>
        <p:spPr>
          <a:xfrm>
            <a:off x="4681728" y="3941064"/>
            <a:ext cx="192024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B767C"/>
                </a:solidFill>
              </a:defRPr>
            </a:lvl1pPr>
          </a:lstStyle>
          <a:p>
            <a:pPr/>
            <a:r>
              <a:t>Virements, historique</a:t>
            </a:r>
          </a:p>
        </p:txBody>
      </p:sp>
      <p:sp>
        <p:nvSpPr>
          <p:cNvPr id="120" name="Shape 24"/>
          <p:cNvSpPr/>
          <p:nvPr/>
        </p:nvSpPr>
        <p:spPr>
          <a:xfrm>
            <a:off x="6693407" y="3922776"/>
            <a:ext cx="274321" cy="1"/>
          </a:xfrm>
          <a:prstGeom prst="line">
            <a:avLst/>
          </a:prstGeom>
          <a:ln w="22225">
            <a:solidFill>
              <a:srgbClr val="B8672E"/>
            </a:solidFill>
          </a:ln>
        </p:spPr>
        <p:txBody>
          <a:bodyPr lIns="45719" rIns="45719"/>
          <a:lstStyle/>
          <a:p>
            <a:pPr/>
          </a:p>
        </p:txBody>
      </p:sp>
      <p:sp>
        <p:nvSpPr>
          <p:cNvPr id="121" name="Shape 25"/>
          <p:cNvSpPr/>
          <p:nvPr/>
        </p:nvSpPr>
        <p:spPr>
          <a:xfrm>
            <a:off x="6967727" y="3099816"/>
            <a:ext cx="1" cy="822961"/>
          </a:xfrm>
          <a:prstGeom prst="line">
            <a:avLst/>
          </a:prstGeom>
          <a:ln w="22225">
            <a:solidFill>
              <a:srgbClr val="B8672E"/>
            </a:solidFill>
          </a:ln>
        </p:spPr>
        <p:txBody>
          <a:bodyPr lIns="45719" rIns="45719"/>
          <a:lstStyle/>
          <a:p>
            <a:pPr/>
          </a:p>
        </p:txBody>
      </p:sp>
      <p:sp>
        <p:nvSpPr>
          <p:cNvPr id="122" name="Shape 26"/>
          <p:cNvSpPr/>
          <p:nvPr/>
        </p:nvSpPr>
        <p:spPr>
          <a:xfrm flipH="1">
            <a:off x="6693407" y="3099816"/>
            <a:ext cx="274321" cy="1"/>
          </a:xfrm>
          <a:prstGeom prst="line">
            <a:avLst/>
          </a:prstGeom>
          <a:ln w="15875">
            <a:solidFill>
              <a:srgbClr val="6B767C"/>
            </a:solidFill>
            <a:tailEnd type="triangle"/>
          </a:ln>
        </p:spPr>
        <p:txBody>
          <a:bodyPr lIns="45719" rIns="45719"/>
          <a:lstStyle/>
          <a:p>
            <a:pPr/>
          </a:p>
        </p:txBody>
      </p:sp>
      <p:sp>
        <p:nvSpPr>
          <p:cNvPr id="123" name="Text 27"/>
          <p:cNvSpPr txBox="1"/>
          <p:nvPr/>
        </p:nvSpPr>
        <p:spPr>
          <a:xfrm>
            <a:off x="7022592" y="3374135"/>
            <a:ext cx="5486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900">
                <a:solidFill>
                  <a:srgbClr val="3A4A52"/>
                </a:solidFill>
              </a:defRPr>
            </a:lvl1pPr>
          </a:lstStyle>
          <a:p>
            <a:pPr/>
            <a:r>
              <a:t>HTTP</a:t>
            </a:r>
          </a:p>
        </p:txBody>
      </p:sp>
      <p:grpSp>
        <p:nvGrpSpPr>
          <p:cNvPr id="127" name="Shape 28"/>
          <p:cNvGrpSpPr/>
          <p:nvPr/>
        </p:nvGrpSpPr>
        <p:grpSpPr>
          <a:xfrm>
            <a:off x="7680958" y="1737360"/>
            <a:ext cx="1005842" cy="1463041"/>
            <a:chOff x="-1" y="0"/>
            <a:chExt cx="1005841" cy="1463040"/>
          </a:xfrm>
        </p:grpSpPr>
        <p:sp>
          <p:nvSpPr>
            <p:cNvPr id="124" name="Figure"/>
            <p:cNvSpPr/>
            <p:nvPr/>
          </p:nvSpPr>
          <p:spPr>
            <a:xfrm>
              <a:off x="-2" y="-1"/>
              <a:ext cx="1005843" cy="14630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856"/>
                  </a:moveTo>
                  <a:cubicBezTo>
                    <a:pt x="0" y="831"/>
                    <a:pt x="4835" y="0"/>
                    <a:pt x="10800" y="0"/>
                  </a:cubicBezTo>
                  <a:cubicBezTo>
                    <a:pt x="16765" y="0"/>
                    <a:pt x="21600" y="831"/>
                    <a:pt x="21600" y="1856"/>
                  </a:cubicBezTo>
                  <a:lnTo>
                    <a:pt x="21600" y="19744"/>
                  </a:lnTo>
                  <a:cubicBezTo>
                    <a:pt x="21600" y="20769"/>
                    <a:pt x="16765" y="21600"/>
                    <a:pt x="10800" y="21600"/>
                  </a:cubicBezTo>
                  <a:cubicBezTo>
                    <a:pt x="4835" y="21600"/>
                    <a:pt x="0" y="20769"/>
                    <a:pt x="0" y="19744"/>
                  </a:cubicBezTo>
                  <a:close/>
                </a:path>
              </a:pathLst>
            </a:custGeom>
            <a:solidFill>
              <a:srgbClr val="1F2A30"/>
            </a:solidFill>
            <a:ln w="12700" cap="flat">
              <a:noFill/>
              <a:miter lim="400000"/>
            </a:ln>
            <a:effectLst/>
          </p:spPr>
          <p:txBody>
            <a:bodyPr wrap="square" lIns="45719" tIns="45719" rIns="45719" bIns="45719" numCol="1" anchor="t">
              <a:noAutofit/>
            </a:bodyPr>
            <a:lstStyle/>
            <a:p>
              <a:pPr/>
            </a:p>
          </p:txBody>
        </p:sp>
        <p:sp>
          <p:nvSpPr>
            <p:cNvPr id="125" name="Ovale"/>
            <p:cNvSpPr/>
            <p:nvPr/>
          </p:nvSpPr>
          <p:spPr>
            <a:xfrm>
              <a:off x="-1" y="-1"/>
              <a:ext cx="1005842" cy="251461"/>
            </a:xfrm>
            <a:prstGeom prst="ellipse">
              <a:avLst/>
            </a:prstGeom>
            <a:solidFill>
              <a:srgbClr val="FFFFFF">
                <a:alpha val="40000"/>
              </a:srgbClr>
            </a:solidFill>
            <a:ln w="12700" cap="flat">
              <a:noFill/>
              <a:miter lim="400000"/>
            </a:ln>
            <a:effectLst/>
          </p:spPr>
          <p:txBody>
            <a:bodyPr wrap="square" lIns="45719" tIns="45719" rIns="45719" bIns="45719" numCol="1" anchor="t">
              <a:noAutofit/>
            </a:bodyPr>
            <a:lstStyle/>
            <a:p>
              <a:pPr/>
            </a:p>
          </p:txBody>
        </p:sp>
        <p:sp>
          <p:nvSpPr>
            <p:cNvPr id="126" name="Ligne"/>
            <p:cNvSpPr/>
            <p:nvPr/>
          </p:nvSpPr>
          <p:spPr>
            <a:xfrm>
              <a:off x="-2" y="-1"/>
              <a:ext cx="1005842" cy="14630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856"/>
                  </a:moveTo>
                  <a:cubicBezTo>
                    <a:pt x="21600" y="2881"/>
                    <a:pt x="16765" y="3712"/>
                    <a:pt x="10800" y="3712"/>
                  </a:cubicBezTo>
                  <a:cubicBezTo>
                    <a:pt x="4835" y="3712"/>
                    <a:pt x="0" y="2881"/>
                    <a:pt x="0" y="1856"/>
                  </a:cubicBezTo>
                  <a:cubicBezTo>
                    <a:pt x="0" y="831"/>
                    <a:pt x="4835" y="0"/>
                    <a:pt x="10800" y="0"/>
                  </a:cubicBezTo>
                  <a:cubicBezTo>
                    <a:pt x="16765" y="0"/>
                    <a:pt x="21600" y="831"/>
                    <a:pt x="21600" y="1856"/>
                  </a:cubicBezTo>
                  <a:lnTo>
                    <a:pt x="21600" y="19744"/>
                  </a:lnTo>
                  <a:cubicBezTo>
                    <a:pt x="21600" y="20769"/>
                    <a:pt x="16765" y="21600"/>
                    <a:pt x="10800" y="21600"/>
                  </a:cubicBezTo>
                  <a:cubicBezTo>
                    <a:pt x="4835" y="21600"/>
                    <a:pt x="0" y="20769"/>
                    <a:pt x="0" y="19744"/>
                  </a:cubicBezTo>
                  <a:lnTo>
                    <a:pt x="0" y="1856"/>
                  </a:lnTo>
                </a:path>
              </a:pathLst>
            </a:custGeom>
            <a:noFill/>
            <a:ln w="12700" cap="flat">
              <a:solidFill>
                <a:srgbClr val="1F2A30"/>
              </a:solidFill>
              <a:prstDash val="solid"/>
              <a:round/>
            </a:ln>
            <a:effectLst/>
          </p:spPr>
          <p:txBody>
            <a:bodyPr wrap="square" lIns="45719" tIns="45719" rIns="45719" bIns="45719" numCol="1" anchor="t">
              <a:noAutofit/>
            </a:bodyPr>
            <a:lstStyle/>
            <a:p>
              <a:pPr/>
            </a:p>
          </p:txBody>
        </p:sp>
      </p:grpSp>
      <p:sp>
        <p:nvSpPr>
          <p:cNvPr id="128" name="Text 29"/>
          <p:cNvSpPr txBox="1"/>
          <p:nvPr/>
        </p:nvSpPr>
        <p:spPr>
          <a:xfrm>
            <a:off x="7680959" y="2392679"/>
            <a:ext cx="100584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FFFFF"/>
                </a:solidFill>
                <a:latin typeface="Cambria"/>
                <a:ea typeface="Cambria"/>
                <a:cs typeface="Cambria"/>
                <a:sym typeface="Cambria"/>
              </a:defRPr>
            </a:lvl1pPr>
          </a:lstStyle>
          <a:p>
            <a:pPr/>
            <a:r>
              <a:t>MySQL</a:t>
            </a:r>
          </a:p>
        </p:txBody>
      </p:sp>
      <p:sp>
        <p:nvSpPr>
          <p:cNvPr id="129" name="Text 30"/>
          <p:cNvSpPr txBox="1"/>
          <p:nvPr/>
        </p:nvSpPr>
        <p:spPr>
          <a:xfrm>
            <a:off x="457200" y="4434840"/>
            <a:ext cx="8229600"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1F2A30"/>
                </a:solidFill>
              </a:defRPr>
            </a:lvl1pPr>
          </a:lstStyle>
          <a:p>
            <a:pPr/>
            <a:r>
              <a:t>Quatre services métier et une API Gateway qui sert de point d'entrée unique.</a:t>
            </a:r>
          </a:p>
        </p:txBody>
      </p:sp>
      <p:sp>
        <p:nvSpPr>
          <p:cNvPr id="130" name="Slide Number Placeholder 0"/>
          <p:cNvSpPr txBox="1"/>
          <p:nvPr>
            <p:ph type="sldNum" sz="quarter" idx="4294967295"/>
          </p:nvPr>
        </p:nvSpPr>
        <p:spPr>
          <a:xfrm>
            <a:off x="8531165" y="4818888"/>
            <a:ext cx="155635" cy="19601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4" name="Text 0"/>
          <p:cNvSpPr txBox="1"/>
          <p:nvPr/>
        </p:nvSpPr>
        <p:spPr>
          <a:xfrm>
            <a:off x="457200" y="256031"/>
            <a:ext cx="3657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00" sz="900">
                <a:solidFill>
                  <a:srgbClr val="B8672E"/>
                </a:solidFill>
              </a:defRPr>
            </a:lvl1pPr>
          </a:lstStyle>
          <a:p>
            <a:pPr/>
            <a:r>
              <a:t>LA SOLUTION</a:t>
            </a:r>
          </a:p>
        </p:txBody>
      </p:sp>
      <p:sp>
        <p:nvSpPr>
          <p:cNvPr id="135" name="Text 1"/>
          <p:cNvSpPr txBox="1"/>
          <p:nvPr/>
        </p:nvSpPr>
        <p:spPr>
          <a:xfrm>
            <a:off x="457200" y="530859"/>
            <a:ext cx="822960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400">
                <a:solidFill>
                  <a:srgbClr val="1F2A30"/>
                </a:solidFill>
                <a:latin typeface="Cambria"/>
                <a:ea typeface="Cambria"/>
                <a:cs typeface="Cambria"/>
                <a:sym typeface="Cambria"/>
              </a:defRPr>
            </a:lvl1pPr>
          </a:lstStyle>
          <a:p>
            <a:pPr/>
            <a:r>
              <a:t>Structure d'un microservice</a:t>
            </a:r>
          </a:p>
        </p:txBody>
      </p:sp>
      <p:sp>
        <p:nvSpPr>
          <p:cNvPr id="136" name="Text 2"/>
          <p:cNvSpPr txBox="1"/>
          <p:nvPr/>
        </p:nvSpPr>
        <p:spPr>
          <a:xfrm>
            <a:off x="457200" y="4846320"/>
            <a:ext cx="64008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6B767C"/>
                </a:solidFill>
              </a:defRPr>
            </a:lvl1pPr>
          </a:lstStyle>
          <a:p>
            <a:pPr/>
            <a:r>
              <a:t>Application bancaire multi-services · Architecture hexagonale</a:t>
            </a:r>
          </a:p>
        </p:txBody>
      </p:sp>
      <p:sp>
        <p:nvSpPr>
          <p:cNvPr id="137" name="Shape 3"/>
          <p:cNvSpPr/>
          <p:nvPr/>
        </p:nvSpPr>
        <p:spPr>
          <a:xfrm>
            <a:off x="457199" y="1188720"/>
            <a:ext cx="3566161" cy="31546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777" y="0"/>
                </a:lnTo>
                <a:lnTo>
                  <a:pt x="16823" y="0"/>
                </a:lnTo>
                <a:lnTo>
                  <a:pt x="21600" y="10800"/>
                </a:lnTo>
                <a:lnTo>
                  <a:pt x="16823" y="21600"/>
                </a:lnTo>
                <a:lnTo>
                  <a:pt x="4777" y="21600"/>
                </a:lnTo>
                <a:close/>
              </a:path>
            </a:pathLst>
          </a:custGeom>
          <a:solidFill>
            <a:srgbClr val="2F5D50"/>
          </a:solidFill>
          <a:ln w="25400">
            <a:solidFill>
              <a:srgbClr val="FFFFFF"/>
            </a:solidFill>
          </a:ln>
        </p:spPr>
        <p:txBody>
          <a:bodyPr lIns="45719" rIns="45719"/>
          <a:lstStyle/>
          <a:p>
            <a:pPr/>
          </a:p>
        </p:txBody>
      </p:sp>
      <p:sp>
        <p:nvSpPr>
          <p:cNvPr id="138" name="Shape 4"/>
          <p:cNvSpPr/>
          <p:nvPr/>
        </p:nvSpPr>
        <p:spPr>
          <a:xfrm>
            <a:off x="1005839" y="1691640"/>
            <a:ext cx="2468881" cy="21488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700" y="0"/>
                </a:lnTo>
                <a:lnTo>
                  <a:pt x="16900" y="0"/>
                </a:lnTo>
                <a:lnTo>
                  <a:pt x="21600" y="10800"/>
                </a:lnTo>
                <a:lnTo>
                  <a:pt x="16900" y="21600"/>
                </a:lnTo>
                <a:lnTo>
                  <a:pt x="4700" y="21600"/>
                </a:lnTo>
                <a:close/>
              </a:path>
            </a:pathLst>
          </a:custGeom>
          <a:solidFill>
            <a:srgbClr val="3A4A52"/>
          </a:solidFill>
          <a:ln w="25400">
            <a:solidFill>
              <a:srgbClr val="FFFFFF"/>
            </a:solidFill>
          </a:ln>
        </p:spPr>
        <p:txBody>
          <a:bodyPr lIns="45719" rIns="45719"/>
          <a:lstStyle/>
          <a:p>
            <a:pPr/>
          </a:p>
        </p:txBody>
      </p:sp>
      <p:sp>
        <p:nvSpPr>
          <p:cNvPr id="139" name="Shape 5"/>
          <p:cNvSpPr/>
          <p:nvPr/>
        </p:nvSpPr>
        <p:spPr>
          <a:xfrm>
            <a:off x="1554480" y="2194560"/>
            <a:ext cx="1371601" cy="11887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680" y="0"/>
                </a:lnTo>
                <a:lnTo>
                  <a:pt x="16920" y="0"/>
                </a:lnTo>
                <a:lnTo>
                  <a:pt x="21600" y="10800"/>
                </a:lnTo>
                <a:lnTo>
                  <a:pt x="16920" y="21600"/>
                </a:lnTo>
                <a:lnTo>
                  <a:pt x="4680" y="21600"/>
                </a:lnTo>
                <a:close/>
              </a:path>
            </a:pathLst>
          </a:custGeom>
          <a:solidFill>
            <a:srgbClr val="1F2A30"/>
          </a:solidFill>
          <a:ln w="25400">
            <a:solidFill>
              <a:srgbClr val="FFFFFF"/>
            </a:solidFill>
          </a:ln>
        </p:spPr>
        <p:txBody>
          <a:bodyPr lIns="45719" rIns="45719"/>
          <a:lstStyle/>
          <a:p>
            <a:pPr/>
          </a:p>
        </p:txBody>
      </p:sp>
      <p:sp>
        <p:nvSpPr>
          <p:cNvPr id="140" name="Text 6"/>
          <p:cNvSpPr txBox="1"/>
          <p:nvPr/>
        </p:nvSpPr>
        <p:spPr>
          <a:xfrm>
            <a:off x="457199" y="1298447"/>
            <a:ext cx="356616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FFFFFF"/>
                </a:solidFill>
                <a:latin typeface="Cambria"/>
                <a:ea typeface="Cambria"/>
                <a:cs typeface="Cambria"/>
                <a:sym typeface="Cambria"/>
              </a:defRPr>
            </a:lvl1pPr>
          </a:lstStyle>
          <a:p>
            <a:pPr/>
            <a:r>
              <a:t>Infrastructure</a:t>
            </a:r>
          </a:p>
        </p:txBody>
      </p:sp>
      <p:sp>
        <p:nvSpPr>
          <p:cNvPr id="141" name="Text 7"/>
          <p:cNvSpPr txBox="1"/>
          <p:nvPr/>
        </p:nvSpPr>
        <p:spPr>
          <a:xfrm>
            <a:off x="1005839" y="1810511"/>
            <a:ext cx="246888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FFFFFF"/>
                </a:solidFill>
                <a:latin typeface="Cambria"/>
                <a:ea typeface="Cambria"/>
                <a:cs typeface="Cambria"/>
                <a:sym typeface="Cambria"/>
              </a:defRPr>
            </a:lvl1pPr>
          </a:lstStyle>
          <a:p>
            <a:pPr/>
            <a:r>
              <a:t>Application</a:t>
            </a:r>
          </a:p>
        </p:txBody>
      </p:sp>
      <p:sp>
        <p:nvSpPr>
          <p:cNvPr id="142" name="Text 8"/>
          <p:cNvSpPr txBox="1"/>
          <p:nvPr/>
        </p:nvSpPr>
        <p:spPr>
          <a:xfrm>
            <a:off x="1554480" y="2700020"/>
            <a:ext cx="13716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FFFFFF"/>
                </a:solidFill>
                <a:latin typeface="Cambria"/>
                <a:ea typeface="Cambria"/>
                <a:cs typeface="Cambria"/>
                <a:sym typeface="Cambria"/>
              </a:defRPr>
            </a:lvl1pPr>
          </a:lstStyle>
          <a:p>
            <a:pPr/>
            <a:r>
              <a:t>Domain</a:t>
            </a:r>
          </a:p>
        </p:txBody>
      </p:sp>
      <p:sp>
        <p:nvSpPr>
          <p:cNvPr id="143" name="Shape 9"/>
          <p:cNvSpPr/>
          <p:nvPr/>
        </p:nvSpPr>
        <p:spPr>
          <a:xfrm>
            <a:off x="4480559" y="1188719"/>
            <a:ext cx="4206241" cy="804673"/>
          </a:xfrm>
          <a:prstGeom prst="rect">
            <a:avLst/>
          </a:prstGeom>
          <a:solidFill>
            <a:srgbClr val="EAF2EF"/>
          </a:solidFill>
          <a:ln w="12700">
            <a:solidFill>
              <a:srgbClr val="EAF2EF"/>
            </a:solidFill>
          </a:ln>
        </p:spPr>
        <p:txBody>
          <a:bodyPr lIns="45719" rIns="45719"/>
          <a:lstStyle/>
          <a:p>
            <a:pPr/>
          </a:p>
        </p:txBody>
      </p:sp>
      <p:sp>
        <p:nvSpPr>
          <p:cNvPr id="144" name="Shape 10"/>
          <p:cNvSpPr/>
          <p:nvPr/>
        </p:nvSpPr>
        <p:spPr>
          <a:xfrm>
            <a:off x="4791455" y="1522658"/>
            <a:ext cx="128017" cy="128017"/>
          </a:xfrm>
          <a:prstGeom prst="rect">
            <a:avLst/>
          </a:prstGeom>
          <a:solidFill>
            <a:srgbClr val="1F2A30"/>
          </a:solidFill>
          <a:ln w="12700">
            <a:solidFill>
              <a:srgbClr val="1F2A30"/>
            </a:solidFill>
          </a:ln>
        </p:spPr>
        <p:txBody>
          <a:bodyPr lIns="45719" rIns="45719"/>
          <a:lstStyle/>
          <a:p>
            <a:pPr/>
          </a:p>
        </p:txBody>
      </p:sp>
      <p:sp>
        <p:nvSpPr>
          <p:cNvPr id="145" name="Text 11"/>
          <p:cNvSpPr txBox="1"/>
          <p:nvPr/>
        </p:nvSpPr>
        <p:spPr>
          <a:xfrm>
            <a:off x="5257800" y="1261872"/>
            <a:ext cx="329184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1F2A30"/>
                </a:solidFill>
                <a:latin typeface="Courier New"/>
                <a:ea typeface="Courier New"/>
                <a:cs typeface="Courier New"/>
                <a:sym typeface="Courier New"/>
              </a:defRPr>
            </a:lvl1pPr>
          </a:lstStyle>
          <a:p>
            <a:pPr/>
            <a:r>
              <a:t>Domain/</a:t>
            </a:r>
          </a:p>
        </p:txBody>
      </p:sp>
      <p:sp>
        <p:nvSpPr>
          <p:cNvPr id="146" name="Text 12"/>
          <p:cNvSpPr txBox="1"/>
          <p:nvPr/>
        </p:nvSpPr>
        <p:spPr>
          <a:xfrm>
            <a:off x="5257800" y="1536191"/>
            <a:ext cx="333756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2292D"/>
                </a:solidFill>
              </a:defRPr>
            </a:lvl1pPr>
          </a:lstStyle>
          <a:p>
            <a:pPr/>
            <a:r>
              <a:t>Entités et exceptions métier.</a:t>
            </a:r>
          </a:p>
        </p:txBody>
      </p:sp>
      <p:sp>
        <p:nvSpPr>
          <p:cNvPr id="147" name="Shape 13"/>
          <p:cNvSpPr/>
          <p:nvPr/>
        </p:nvSpPr>
        <p:spPr>
          <a:xfrm>
            <a:off x="4480559" y="2121407"/>
            <a:ext cx="4206241" cy="804673"/>
          </a:xfrm>
          <a:prstGeom prst="rect">
            <a:avLst/>
          </a:prstGeom>
          <a:solidFill>
            <a:srgbClr val="EAF2EF"/>
          </a:solidFill>
          <a:ln w="12700">
            <a:solidFill>
              <a:srgbClr val="EAF2EF"/>
            </a:solidFill>
          </a:ln>
        </p:spPr>
        <p:txBody>
          <a:bodyPr lIns="45719" rIns="45719"/>
          <a:lstStyle/>
          <a:p>
            <a:pPr/>
          </a:p>
        </p:txBody>
      </p:sp>
      <p:sp>
        <p:nvSpPr>
          <p:cNvPr id="148" name="Shape 14"/>
          <p:cNvSpPr/>
          <p:nvPr/>
        </p:nvSpPr>
        <p:spPr>
          <a:xfrm>
            <a:off x="4791455" y="2455347"/>
            <a:ext cx="128017" cy="128017"/>
          </a:xfrm>
          <a:prstGeom prst="rect">
            <a:avLst/>
          </a:prstGeom>
          <a:solidFill>
            <a:srgbClr val="3A4A52"/>
          </a:solidFill>
          <a:ln w="12700">
            <a:solidFill>
              <a:srgbClr val="3A4A52"/>
            </a:solidFill>
          </a:ln>
        </p:spPr>
        <p:txBody>
          <a:bodyPr lIns="45719" rIns="45719"/>
          <a:lstStyle/>
          <a:p>
            <a:pPr/>
          </a:p>
        </p:txBody>
      </p:sp>
      <p:sp>
        <p:nvSpPr>
          <p:cNvPr id="149" name="Text 15"/>
          <p:cNvSpPr txBox="1"/>
          <p:nvPr/>
        </p:nvSpPr>
        <p:spPr>
          <a:xfrm>
            <a:off x="5257800" y="2194560"/>
            <a:ext cx="329184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1F2A30"/>
                </a:solidFill>
                <a:latin typeface="Courier New"/>
                <a:ea typeface="Courier New"/>
                <a:cs typeface="Courier New"/>
                <a:sym typeface="Courier New"/>
              </a:defRPr>
            </a:lvl1pPr>
          </a:lstStyle>
          <a:p>
            <a:pPr/>
            <a:r>
              <a:t>Application/</a:t>
            </a:r>
          </a:p>
        </p:txBody>
      </p:sp>
      <p:sp>
        <p:nvSpPr>
          <p:cNvPr id="150" name="Text 16"/>
          <p:cNvSpPr txBox="1"/>
          <p:nvPr/>
        </p:nvSpPr>
        <p:spPr>
          <a:xfrm>
            <a:off x="5257800" y="2468879"/>
            <a:ext cx="3337560" cy="2993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2292D"/>
                </a:solidFill>
              </a:defRPr>
            </a:lvl1pPr>
          </a:lstStyle>
          <a:p>
            <a:pPr/>
            <a:r>
              <a:t>Use cases (opérations métier) et ports de sortie (interfaces imposées à l'infrastructure).</a:t>
            </a:r>
          </a:p>
        </p:txBody>
      </p:sp>
      <p:sp>
        <p:nvSpPr>
          <p:cNvPr id="151" name="Shape 17"/>
          <p:cNvSpPr/>
          <p:nvPr/>
        </p:nvSpPr>
        <p:spPr>
          <a:xfrm>
            <a:off x="4480559" y="3054095"/>
            <a:ext cx="4206241" cy="804673"/>
          </a:xfrm>
          <a:prstGeom prst="rect">
            <a:avLst/>
          </a:prstGeom>
          <a:solidFill>
            <a:srgbClr val="EAF2EF"/>
          </a:solidFill>
          <a:ln w="12700">
            <a:solidFill>
              <a:srgbClr val="EAF2EF"/>
            </a:solidFill>
          </a:ln>
        </p:spPr>
        <p:txBody>
          <a:bodyPr lIns="45719" rIns="45719"/>
          <a:lstStyle/>
          <a:p>
            <a:pPr/>
          </a:p>
        </p:txBody>
      </p:sp>
      <p:sp>
        <p:nvSpPr>
          <p:cNvPr id="152" name="Shape 18"/>
          <p:cNvSpPr/>
          <p:nvPr/>
        </p:nvSpPr>
        <p:spPr>
          <a:xfrm>
            <a:off x="4791455" y="3388035"/>
            <a:ext cx="128017" cy="128017"/>
          </a:xfrm>
          <a:prstGeom prst="rect">
            <a:avLst/>
          </a:prstGeom>
          <a:solidFill>
            <a:srgbClr val="2F5D50"/>
          </a:solidFill>
          <a:ln w="12700">
            <a:solidFill>
              <a:srgbClr val="2F5D50"/>
            </a:solidFill>
          </a:ln>
        </p:spPr>
        <p:txBody>
          <a:bodyPr lIns="45719" rIns="45719"/>
          <a:lstStyle/>
          <a:p>
            <a:pPr/>
          </a:p>
        </p:txBody>
      </p:sp>
      <p:sp>
        <p:nvSpPr>
          <p:cNvPr id="153" name="Text 19"/>
          <p:cNvSpPr txBox="1"/>
          <p:nvPr/>
        </p:nvSpPr>
        <p:spPr>
          <a:xfrm>
            <a:off x="5257800" y="3127248"/>
            <a:ext cx="329184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1F2A30"/>
                </a:solidFill>
                <a:latin typeface="Courier New"/>
                <a:ea typeface="Courier New"/>
                <a:cs typeface="Courier New"/>
                <a:sym typeface="Courier New"/>
              </a:defRPr>
            </a:lvl1pPr>
          </a:lstStyle>
          <a:p>
            <a:pPr/>
            <a:r>
              <a:t>Infrastructure/</a:t>
            </a:r>
          </a:p>
        </p:txBody>
      </p:sp>
      <p:sp>
        <p:nvSpPr>
          <p:cNvPr id="154" name="Text 20"/>
          <p:cNvSpPr txBox="1"/>
          <p:nvPr/>
        </p:nvSpPr>
        <p:spPr>
          <a:xfrm>
            <a:off x="5257800" y="3401567"/>
            <a:ext cx="3337560" cy="2993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2292D"/>
                </a:solidFill>
              </a:defRPr>
            </a:lvl1pPr>
          </a:lstStyle>
          <a:p>
            <a:pPr/>
            <a:r>
              <a:t>Adaptateurs IN (contrôleurs REST) et OUT (persistance, HTTP) et DTO.</a:t>
            </a:r>
          </a:p>
        </p:txBody>
      </p:sp>
      <p:sp>
        <p:nvSpPr>
          <p:cNvPr id="155" name="Shape 21"/>
          <p:cNvSpPr/>
          <p:nvPr/>
        </p:nvSpPr>
        <p:spPr>
          <a:xfrm>
            <a:off x="4480559" y="4023359"/>
            <a:ext cx="4206241" cy="457201"/>
          </a:xfrm>
          <a:prstGeom prst="rect">
            <a:avLst/>
          </a:prstGeom>
          <a:solidFill>
            <a:srgbClr val="EAF2EF"/>
          </a:solidFill>
          <a:ln w="12700">
            <a:solidFill>
              <a:srgbClr val="EAF2EF"/>
            </a:solidFill>
          </a:ln>
        </p:spPr>
        <p:txBody>
          <a:bodyPr lIns="45719" rIns="45719"/>
          <a:lstStyle/>
          <a:p>
            <a:pPr/>
          </a:p>
        </p:txBody>
      </p:sp>
      <p:sp>
        <p:nvSpPr>
          <p:cNvPr id="156" name="Text 22"/>
          <p:cNvSpPr txBox="1"/>
          <p:nvPr/>
        </p:nvSpPr>
        <p:spPr>
          <a:xfrm>
            <a:off x="4617720" y="4133088"/>
            <a:ext cx="393192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3A4A52"/>
                </a:solidFill>
                <a:latin typeface="Cambria"/>
                <a:ea typeface="Cambria"/>
                <a:cs typeface="Cambria"/>
                <a:sym typeface="Cambria"/>
              </a:defRPr>
            </a:lvl1pPr>
          </a:lstStyle>
          <a:p>
            <a:pPr/>
            <a:r>
              <a:t>Les quatre services métier suivent cette même structure.</a:t>
            </a:r>
          </a:p>
        </p:txBody>
      </p:sp>
      <p:sp>
        <p:nvSpPr>
          <p:cNvPr id="157" name="Slide Number Placeholder 0"/>
          <p:cNvSpPr txBox="1"/>
          <p:nvPr>
            <p:ph type="sldNum" sz="quarter" idx="4294967295"/>
          </p:nvPr>
        </p:nvSpPr>
        <p:spPr>
          <a:xfrm>
            <a:off x="8531165" y="4818888"/>
            <a:ext cx="155635" cy="19601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1" name="Text 0"/>
          <p:cNvSpPr txBox="1"/>
          <p:nvPr/>
        </p:nvSpPr>
        <p:spPr>
          <a:xfrm>
            <a:off x="457200" y="256031"/>
            <a:ext cx="3657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00" sz="900">
                <a:solidFill>
                  <a:srgbClr val="B8672E"/>
                </a:solidFill>
              </a:defRPr>
            </a:lvl1pPr>
          </a:lstStyle>
          <a:p>
            <a:pPr/>
            <a:r>
              <a:t>LA SOLUTION</a:t>
            </a:r>
          </a:p>
        </p:txBody>
      </p:sp>
      <p:sp>
        <p:nvSpPr>
          <p:cNvPr id="162" name="Text 1"/>
          <p:cNvSpPr txBox="1"/>
          <p:nvPr/>
        </p:nvSpPr>
        <p:spPr>
          <a:xfrm>
            <a:off x="457200" y="530859"/>
            <a:ext cx="822960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400">
                <a:solidFill>
                  <a:srgbClr val="1F2A30"/>
                </a:solidFill>
                <a:latin typeface="Cambria"/>
                <a:ea typeface="Cambria"/>
                <a:cs typeface="Cambria"/>
                <a:sym typeface="Cambria"/>
              </a:defRPr>
            </a:lvl1pPr>
          </a:lstStyle>
          <a:p>
            <a:pPr/>
            <a:r>
              <a:t>L'architecture hexagonale (ports &amp; adapters)</a:t>
            </a:r>
          </a:p>
        </p:txBody>
      </p:sp>
      <p:sp>
        <p:nvSpPr>
          <p:cNvPr id="163" name="Text 2"/>
          <p:cNvSpPr txBox="1"/>
          <p:nvPr/>
        </p:nvSpPr>
        <p:spPr>
          <a:xfrm>
            <a:off x="457200" y="4846320"/>
            <a:ext cx="64008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6B767C"/>
                </a:solidFill>
              </a:defRPr>
            </a:lvl1pPr>
          </a:lstStyle>
          <a:p>
            <a:pPr/>
            <a:r>
              <a:t>Application bancaire multi-services · Architecture hexagonale</a:t>
            </a:r>
          </a:p>
        </p:txBody>
      </p:sp>
      <p:sp>
        <p:nvSpPr>
          <p:cNvPr id="164" name="Slide Number Placeholder 0"/>
          <p:cNvSpPr txBox="1"/>
          <p:nvPr>
            <p:ph type="sldNum" sz="quarter" idx="4294967295"/>
          </p:nvPr>
        </p:nvSpPr>
        <p:spPr>
          <a:xfrm>
            <a:off x="8531165" y="4818888"/>
            <a:ext cx="155635" cy="19601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65" name="vidéo-collée.png" descr="vidéo-collée.png"/>
          <p:cNvPicPr>
            <a:picLocks noChangeAspect="1"/>
          </p:cNvPicPr>
          <p:nvPr/>
        </p:nvPicPr>
        <p:blipFill>
          <a:blip r:embed="rId3">
            <a:extLst/>
          </a:blip>
          <a:stretch>
            <a:fillRect/>
          </a:stretch>
        </p:blipFill>
        <p:spPr>
          <a:xfrm>
            <a:off x="1846" y="0"/>
            <a:ext cx="9140308" cy="5143500"/>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9" name="Text 0"/>
          <p:cNvSpPr txBox="1"/>
          <p:nvPr/>
        </p:nvSpPr>
        <p:spPr>
          <a:xfrm>
            <a:off x="457200" y="256031"/>
            <a:ext cx="3657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00" sz="900">
                <a:solidFill>
                  <a:srgbClr val="B8672E"/>
                </a:solidFill>
              </a:defRPr>
            </a:lvl1pPr>
          </a:lstStyle>
          <a:p>
            <a:pPr/>
            <a:r>
              <a:t>LA SOLUTION</a:t>
            </a:r>
          </a:p>
        </p:txBody>
      </p:sp>
      <p:sp>
        <p:nvSpPr>
          <p:cNvPr id="170" name="Text 1"/>
          <p:cNvSpPr txBox="1"/>
          <p:nvPr/>
        </p:nvSpPr>
        <p:spPr>
          <a:xfrm>
            <a:off x="457200" y="530859"/>
            <a:ext cx="822960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400">
                <a:solidFill>
                  <a:srgbClr val="1F2A30"/>
                </a:solidFill>
                <a:latin typeface="Cambria"/>
                <a:ea typeface="Cambria"/>
                <a:cs typeface="Cambria"/>
                <a:sym typeface="Cambria"/>
              </a:defRPr>
            </a:lvl1pPr>
          </a:lstStyle>
          <a:p>
            <a:pPr/>
            <a:r>
              <a:t>Dans le code : un port et deux adaptateurs</a:t>
            </a:r>
          </a:p>
        </p:txBody>
      </p:sp>
      <p:sp>
        <p:nvSpPr>
          <p:cNvPr id="171" name="Text 2"/>
          <p:cNvSpPr txBox="1"/>
          <p:nvPr/>
        </p:nvSpPr>
        <p:spPr>
          <a:xfrm>
            <a:off x="457200" y="4846320"/>
            <a:ext cx="64008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6B767C"/>
                </a:solidFill>
              </a:defRPr>
            </a:lvl1pPr>
          </a:lstStyle>
          <a:p>
            <a:pPr/>
            <a:r>
              <a:t>Application bancaire multi-services · Architecture hexagonale</a:t>
            </a:r>
          </a:p>
        </p:txBody>
      </p:sp>
      <p:sp>
        <p:nvSpPr>
          <p:cNvPr id="172" name="Text 3"/>
          <p:cNvSpPr txBox="1"/>
          <p:nvPr/>
        </p:nvSpPr>
        <p:spPr>
          <a:xfrm>
            <a:off x="463920" y="1650737"/>
            <a:ext cx="329184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B8672E"/>
                </a:solidFill>
                <a:latin typeface="Cambria"/>
                <a:ea typeface="Cambria"/>
                <a:cs typeface="Cambria"/>
                <a:sym typeface="Cambria"/>
              </a:defRPr>
            </a:lvl1pPr>
          </a:lstStyle>
          <a:p>
            <a:pPr/>
            <a:r>
              <a:t>Le port (Application)</a:t>
            </a:r>
          </a:p>
        </p:txBody>
      </p:sp>
      <p:pic>
        <p:nvPicPr>
          <p:cNvPr id="173" name="Image 0" descr="Image 0"/>
          <p:cNvPicPr>
            <a:picLocks noChangeAspect="1"/>
          </p:cNvPicPr>
          <p:nvPr/>
        </p:nvPicPr>
        <p:blipFill>
          <a:blip r:embed="rId3">
            <a:extLst/>
          </a:blip>
          <a:stretch>
            <a:fillRect/>
          </a:stretch>
        </p:blipFill>
        <p:spPr>
          <a:xfrm>
            <a:off x="463920" y="1925057"/>
            <a:ext cx="3291841" cy="1653559"/>
          </a:xfrm>
          <a:prstGeom prst="rect">
            <a:avLst/>
          </a:prstGeom>
          <a:ln w="12700">
            <a:miter lim="400000"/>
          </a:ln>
        </p:spPr>
      </p:pic>
      <p:sp>
        <p:nvSpPr>
          <p:cNvPr id="174" name="Text 6"/>
          <p:cNvSpPr txBox="1"/>
          <p:nvPr/>
        </p:nvSpPr>
        <p:spPr>
          <a:xfrm>
            <a:off x="4846320" y="1051560"/>
            <a:ext cx="384048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F5D50"/>
                </a:solidFill>
                <a:latin typeface="Cambria"/>
                <a:ea typeface="Cambria"/>
                <a:cs typeface="Cambria"/>
                <a:sym typeface="Cambria"/>
              </a:defRPr>
            </a:lvl1pPr>
          </a:lstStyle>
          <a:p>
            <a:pPr/>
            <a:r>
              <a:t>Adaptateur MySQL (Infrastructure)</a:t>
            </a:r>
          </a:p>
        </p:txBody>
      </p:sp>
      <p:pic>
        <p:nvPicPr>
          <p:cNvPr id="175" name="Image 1" descr="Image 1"/>
          <p:cNvPicPr>
            <a:picLocks noChangeAspect="1"/>
          </p:cNvPicPr>
          <p:nvPr/>
        </p:nvPicPr>
        <p:blipFill>
          <a:blip r:embed="rId4">
            <a:extLst/>
          </a:blip>
          <a:stretch>
            <a:fillRect/>
          </a:stretch>
        </p:blipFill>
        <p:spPr>
          <a:xfrm>
            <a:off x="4846320" y="1325880"/>
            <a:ext cx="3394039" cy="1874521"/>
          </a:xfrm>
          <a:prstGeom prst="rect">
            <a:avLst/>
          </a:prstGeom>
          <a:ln w="12700">
            <a:miter lim="400000"/>
          </a:ln>
        </p:spPr>
      </p:pic>
      <p:sp>
        <p:nvSpPr>
          <p:cNvPr id="176" name="Text 7"/>
          <p:cNvSpPr txBox="1"/>
          <p:nvPr/>
        </p:nvSpPr>
        <p:spPr>
          <a:xfrm>
            <a:off x="4846320" y="3310128"/>
            <a:ext cx="384048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F5D50"/>
                </a:solidFill>
                <a:latin typeface="Cambria"/>
                <a:ea typeface="Cambria"/>
                <a:cs typeface="Cambria"/>
                <a:sym typeface="Cambria"/>
              </a:defRPr>
            </a:lvl1pPr>
          </a:lstStyle>
          <a:p>
            <a:pPr/>
            <a:r>
              <a:t>Adaptateur en mémoire (Infrastructure)</a:t>
            </a:r>
          </a:p>
        </p:txBody>
      </p:sp>
      <p:pic>
        <p:nvPicPr>
          <p:cNvPr id="177" name="Image 2" descr="Image 2"/>
          <p:cNvPicPr>
            <a:picLocks noChangeAspect="1"/>
          </p:cNvPicPr>
          <p:nvPr/>
        </p:nvPicPr>
        <p:blipFill>
          <a:blip r:embed="rId5">
            <a:extLst/>
          </a:blip>
          <a:stretch>
            <a:fillRect/>
          </a:stretch>
        </p:blipFill>
        <p:spPr>
          <a:xfrm>
            <a:off x="4846320" y="3584447"/>
            <a:ext cx="2961770" cy="1143001"/>
          </a:xfrm>
          <a:prstGeom prst="rect">
            <a:avLst/>
          </a:prstGeom>
          <a:ln w="12700">
            <a:miter lim="400000"/>
          </a:ln>
        </p:spPr>
      </p:pic>
      <p:sp>
        <p:nvSpPr>
          <p:cNvPr id="178" name="Shape 8"/>
          <p:cNvSpPr/>
          <p:nvPr/>
        </p:nvSpPr>
        <p:spPr>
          <a:xfrm flipH="1">
            <a:off x="3801480" y="2240280"/>
            <a:ext cx="999120" cy="1"/>
          </a:xfrm>
          <a:prstGeom prst="line">
            <a:avLst/>
          </a:prstGeom>
          <a:ln w="15875">
            <a:solidFill>
              <a:srgbClr val="6B767C"/>
            </a:solidFill>
            <a:tailEnd type="triangle"/>
          </a:ln>
        </p:spPr>
        <p:txBody>
          <a:bodyPr lIns="45719" rIns="45719"/>
          <a:lstStyle/>
          <a:p>
            <a:pPr/>
          </a:p>
        </p:txBody>
      </p:sp>
      <p:sp>
        <p:nvSpPr>
          <p:cNvPr id="179" name="Shape 9"/>
          <p:cNvSpPr/>
          <p:nvPr/>
        </p:nvSpPr>
        <p:spPr>
          <a:xfrm flipH="1" flipV="1">
            <a:off x="3791874" y="3594840"/>
            <a:ext cx="1008726" cy="519961"/>
          </a:xfrm>
          <a:prstGeom prst="line">
            <a:avLst/>
          </a:prstGeom>
          <a:ln w="15875">
            <a:solidFill>
              <a:srgbClr val="6B767C"/>
            </a:solidFill>
            <a:tailEnd type="triangle"/>
          </a:ln>
        </p:spPr>
        <p:txBody>
          <a:bodyPr lIns="45719" rIns="45719"/>
          <a:lstStyle/>
          <a:p>
            <a:pPr/>
          </a:p>
        </p:txBody>
      </p:sp>
      <p:sp>
        <p:nvSpPr>
          <p:cNvPr id="180" name="Text 10"/>
          <p:cNvSpPr txBox="1"/>
          <p:nvPr/>
        </p:nvSpPr>
        <p:spPr>
          <a:xfrm>
            <a:off x="3840855" y="2073127"/>
            <a:ext cx="9144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900">
                <a:solidFill>
                  <a:srgbClr val="B8672E"/>
                </a:solidFill>
                <a:latin typeface="Courier New"/>
                <a:ea typeface="Courier New"/>
                <a:cs typeface="Courier New"/>
                <a:sym typeface="Courier New"/>
              </a:defRPr>
            </a:lvl1pPr>
          </a:lstStyle>
          <a:p>
            <a:pPr/>
            <a:r>
              <a:t>implements</a:t>
            </a:r>
          </a:p>
        </p:txBody>
      </p:sp>
      <p:sp>
        <p:nvSpPr>
          <p:cNvPr id="181" name="Text 11"/>
          <p:cNvSpPr txBox="1"/>
          <p:nvPr/>
        </p:nvSpPr>
        <p:spPr>
          <a:xfrm rot="1680000">
            <a:off x="3870946" y="3891310"/>
            <a:ext cx="6858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solidFill>
                  <a:srgbClr val="B8672E"/>
                </a:solidFill>
                <a:latin typeface="Courier New"/>
                <a:ea typeface="Courier New"/>
                <a:cs typeface="Courier New"/>
                <a:sym typeface="Courier New"/>
              </a:defRPr>
            </a:lvl1pPr>
          </a:lstStyle>
          <a:p>
            <a:pPr/>
            <a:r>
              <a:t>implements</a:t>
            </a:r>
          </a:p>
        </p:txBody>
      </p:sp>
      <p:sp>
        <p:nvSpPr>
          <p:cNvPr id="182" name="Slide Number Placeholder 0"/>
          <p:cNvSpPr txBox="1"/>
          <p:nvPr>
            <p:ph type="sldNum" sz="quarter" idx="4294967295"/>
          </p:nvPr>
        </p:nvSpPr>
        <p:spPr>
          <a:xfrm>
            <a:off x="8531165" y="4818888"/>
            <a:ext cx="155635" cy="19601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6" name="Text 0"/>
          <p:cNvSpPr txBox="1"/>
          <p:nvPr/>
        </p:nvSpPr>
        <p:spPr>
          <a:xfrm>
            <a:off x="457200" y="256031"/>
            <a:ext cx="3657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00" sz="900">
                <a:solidFill>
                  <a:srgbClr val="B8672E"/>
                </a:solidFill>
              </a:defRPr>
            </a:lvl1pPr>
          </a:lstStyle>
          <a:p>
            <a:pPr/>
            <a:r>
              <a:t>LA SOLUTION</a:t>
            </a:r>
          </a:p>
        </p:txBody>
      </p:sp>
      <p:sp>
        <p:nvSpPr>
          <p:cNvPr id="187" name="Text 1"/>
          <p:cNvSpPr txBox="1"/>
          <p:nvPr/>
        </p:nvSpPr>
        <p:spPr>
          <a:xfrm>
            <a:off x="457200" y="530859"/>
            <a:ext cx="822960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400">
                <a:solidFill>
                  <a:srgbClr val="1F2A30"/>
                </a:solidFill>
                <a:latin typeface="Cambria"/>
                <a:ea typeface="Cambria"/>
                <a:cs typeface="Cambria"/>
                <a:sym typeface="Cambria"/>
              </a:defRPr>
            </a:lvl1pPr>
          </a:lstStyle>
          <a:p>
            <a:pPr/>
            <a:r>
              <a:t>L'API Gateway</a:t>
            </a:r>
          </a:p>
        </p:txBody>
      </p:sp>
      <p:sp>
        <p:nvSpPr>
          <p:cNvPr id="188" name="Text 2"/>
          <p:cNvSpPr txBox="1"/>
          <p:nvPr/>
        </p:nvSpPr>
        <p:spPr>
          <a:xfrm>
            <a:off x="457200" y="4846320"/>
            <a:ext cx="64008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6B767C"/>
                </a:solidFill>
              </a:defRPr>
            </a:lvl1pPr>
          </a:lstStyle>
          <a:p>
            <a:pPr/>
            <a:r>
              <a:t>Application bancaire multi-services · Architecture hexagonale</a:t>
            </a:r>
          </a:p>
        </p:txBody>
      </p:sp>
      <p:sp>
        <p:nvSpPr>
          <p:cNvPr id="189" name="Shape 3"/>
          <p:cNvSpPr/>
          <p:nvPr/>
        </p:nvSpPr>
        <p:spPr>
          <a:xfrm>
            <a:off x="457200" y="1234439"/>
            <a:ext cx="1005839" cy="640081"/>
          </a:xfrm>
          <a:prstGeom prst="rect">
            <a:avLst/>
          </a:prstGeom>
          <a:solidFill>
            <a:srgbClr val="EAF2EF"/>
          </a:solidFill>
          <a:ln w="12700">
            <a:solidFill>
              <a:srgbClr val="C7DBD3"/>
            </a:solidFill>
          </a:ln>
        </p:spPr>
        <p:txBody>
          <a:bodyPr lIns="45719" rIns="45719"/>
          <a:lstStyle/>
          <a:p>
            <a:pPr/>
          </a:p>
        </p:txBody>
      </p:sp>
      <p:sp>
        <p:nvSpPr>
          <p:cNvPr id="190" name="Text 4"/>
          <p:cNvSpPr txBox="1"/>
          <p:nvPr/>
        </p:nvSpPr>
        <p:spPr>
          <a:xfrm>
            <a:off x="457200" y="1487346"/>
            <a:ext cx="1005839"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1F2A30"/>
                </a:solidFill>
              </a:defRPr>
            </a:lvl1pPr>
          </a:lstStyle>
          <a:p>
            <a:pPr/>
            <a:r>
              <a:t>Requête</a:t>
            </a:r>
          </a:p>
        </p:txBody>
      </p:sp>
      <p:sp>
        <p:nvSpPr>
          <p:cNvPr id="191" name="Shape 5"/>
          <p:cNvSpPr/>
          <p:nvPr/>
        </p:nvSpPr>
        <p:spPr>
          <a:xfrm>
            <a:off x="1481327" y="1554480"/>
            <a:ext cx="164593" cy="1"/>
          </a:xfrm>
          <a:prstGeom prst="line">
            <a:avLst/>
          </a:prstGeom>
          <a:ln w="15875">
            <a:solidFill>
              <a:srgbClr val="6B767C"/>
            </a:solidFill>
            <a:tailEnd type="triangle"/>
          </a:ln>
        </p:spPr>
        <p:txBody>
          <a:bodyPr lIns="45719" rIns="45719"/>
          <a:lstStyle/>
          <a:p>
            <a:pPr/>
          </a:p>
        </p:txBody>
      </p:sp>
      <p:sp>
        <p:nvSpPr>
          <p:cNvPr id="192" name="Shape 6"/>
          <p:cNvSpPr/>
          <p:nvPr/>
        </p:nvSpPr>
        <p:spPr>
          <a:xfrm>
            <a:off x="1664207" y="1234439"/>
            <a:ext cx="1005840" cy="640081"/>
          </a:xfrm>
          <a:prstGeom prst="rect">
            <a:avLst/>
          </a:prstGeom>
          <a:solidFill>
            <a:srgbClr val="3A4A52"/>
          </a:solidFill>
          <a:ln w="12700">
            <a:solidFill>
              <a:srgbClr val="3A4A52"/>
            </a:solidFill>
          </a:ln>
        </p:spPr>
        <p:txBody>
          <a:bodyPr lIns="45719" rIns="45719"/>
          <a:lstStyle/>
          <a:p>
            <a:pPr/>
          </a:p>
        </p:txBody>
      </p:sp>
      <p:sp>
        <p:nvSpPr>
          <p:cNvPr id="193" name="Text 7"/>
          <p:cNvSpPr txBox="1"/>
          <p:nvPr/>
        </p:nvSpPr>
        <p:spPr>
          <a:xfrm>
            <a:off x="1664207" y="1487346"/>
            <a:ext cx="100584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Logger</a:t>
            </a:r>
          </a:p>
        </p:txBody>
      </p:sp>
      <p:sp>
        <p:nvSpPr>
          <p:cNvPr id="194" name="Shape 8"/>
          <p:cNvSpPr/>
          <p:nvPr/>
        </p:nvSpPr>
        <p:spPr>
          <a:xfrm>
            <a:off x="2688335" y="1554480"/>
            <a:ext cx="164593" cy="1"/>
          </a:xfrm>
          <a:prstGeom prst="line">
            <a:avLst/>
          </a:prstGeom>
          <a:ln w="15875">
            <a:solidFill>
              <a:srgbClr val="6B767C"/>
            </a:solidFill>
            <a:tailEnd type="triangle"/>
          </a:ln>
        </p:spPr>
        <p:txBody>
          <a:bodyPr lIns="45719" rIns="45719"/>
          <a:lstStyle/>
          <a:p>
            <a:pPr/>
          </a:p>
        </p:txBody>
      </p:sp>
      <p:sp>
        <p:nvSpPr>
          <p:cNvPr id="195" name="Shape 9"/>
          <p:cNvSpPr/>
          <p:nvPr/>
        </p:nvSpPr>
        <p:spPr>
          <a:xfrm>
            <a:off x="2871216" y="1234439"/>
            <a:ext cx="1005840" cy="640081"/>
          </a:xfrm>
          <a:prstGeom prst="rect">
            <a:avLst/>
          </a:prstGeom>
          <a:solidFill>
            <a:srgbClr val="3A4A52"/>
          </a:solidFill>
          <a:ln w="12700">
            <a:solidFill>
              <a:srgbClr val="3A4A52"/>
            </a:solidFill>
          </a:ln>
        </p:spPr>
        <p:txBody>
          <a:bodyPr lIns="45719" rIns="45719"/>
          <a:lstStyle/>
          <a:p>
            <a:pPr/>
          </a:p>
        </p:txBody>
      </p:sp>
      <p:sp>
        <p:nvSpPr>
          <p:cNvPr id="196" name="Text 10"/>
          <p:cNvSpPr txBox="1"/>
          <p:nvPr/>
        </p:nvSpPr>
        <p:spPr>
          <a:xfrm>
            <a:off x="2871216" y="1487346"/>
            <a:ext cx="100584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CORS</a:t>
            </a:r>
          </a:p>
        </p:txBody>
      </p:sp>
      <p:sp>
        <p:nvSpPr>
          <p:cNvPr id="197" name="Shape 11"/>
          <p:cNvSpPr/>
          <p:nvPr/>
        </p:nvSpPr>
        <p:spPr>
          <a:xfrm>
            <a:off x="3895344" y="1554480"/>
            <a:ext cx="164593" cy="1"/>
          </a:xfrm>
          <a:prstGeom prst="line">
            <a:avLst/>
          </a:prstGeom>
          <a:ln w="15875">
            <a:solidFill>
              <a:srgbClr val="6B767C"/>
            </a:solidFill>
            <a:tailEnd type="triangle"/>
          </a:ln>
        </p:spPr>
        <p:txBody>
          <a:bodyPr lIns="45719" rIns="45719"/>
          <a:lstStyle/>
          <a:p>
            <a:pPr/>
          </a:p>
        </p:txBody>
      </p:sp>
      <p:sp>
        <p:nvSpPr>
          <p:cNvPr id="198" name="Shape 12"/>
          <p:cNvSpPr/>
          <p:nvPr/>
        </p:nvSpPr>
        <p:spPr>
          <a:xfrm>
            <a:off x="4078223" y="1234439"/>
            <a:ext cx="1005840" cy="640081"/>
          </a:xfrm>
          <a:prstGeom prst="rect">
            <a:avLst/>
          </a:prstGeom>
          <a:solidFill>
            <a:srgbClr val="3A4A52"/>
          </a:solidFill>
          <a:ln w="12700">
            <a:solidFill>
              <a:srgbClr val="3A4A52"/>
            </a:solidFill>
          </a:ln>
        </p:spPr>
        <p:txBody>
          <a:bodyPr lIns="45719" rIns="45719"/>
          <a:lstStyle/>
          <a:p>
            <a:pPr/>
          </a:p>
        </p:txBody>
      </p:sp>
      <p:sp>
        <p:nvSpPr>
          <p:cNvPr id="199" name="Text 13"/>
          <p:cNvSpPr txBox="1"/>
          <p:nvPr/>
        </p:nvSpPr>
        <p:spPr>
          <a:xfrm>
            <a:off x="4078223" y="1487346"/>
            <a:ext cx="100584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JWT</a:t>
            </a:r>
          </a:p>
        </p:txBody>
      </p:sp>
      <p:sp>
        <p:nvSpPr>
          <p:cNvPr id="200" name="Shape 14"/>
          <p:cNvSpPr/>
          <p:nvPr/>
        </p:nvSpPr>
        <p:spPr>
          <a:xfrm>
            <a:off x="5102352" y="1554480"/>
            <a:ext cx="164593" cy="1"/>
          </a:xfrm>
          <a:prstGeom prst="line">
            <a:avLst/>
          </a:prstGeom>
          <a:ln w="15875">
            <a:solidFill>
              <a:srgbClr val="6B767C"/>
            </a:solidFill>
            <a:tailEnd type="triangle"/>
          </a:ln>
        </p:spPr>
        <p:txBody>
          <a:bodyPr lIns="45719" rIns="45719"/>
          <a:lstStyle/>
          <a:p>
            <a:pPr/>
          </a:p>
        </p:txBody>
      </p:sp>
      <p:sp>
        <p:nvSpPr>
          <p:cNvPr id="201" name="Shape 15"/>
          <p:cNvSpPr/>
          <p:nvPr/>
        </p:nvSpPr>
        <p:spPr>
          <a:xfrm>
            <a:off x="5285232" y="1234439"/>
            <a:ext cx="1005840" cy="640081"/>
          </a:xfrm>
          <a:prstGeom prst="rect">
            <a:avLst/>
          </a:prstGeom>
          <a:solidFill>
            <a:srgbClr val="1F2A30"/>
          </a:solidFill>
          <a:ln w="12700">
            <a:solidFill>
              <a:srgbClr val="1F2A30"/>
            </a:solidFill>
          </a:ln>
        </p:spPr>
        <p:txBody>
          <a:bodyPr lIns="45719" rIns="45719"/>
          <a:lstStyle/>
          <a:p>
            <a:pPr/>
          </a:p>
        </p:txBody>
      </p:sp>
      <p:sp>
        <p:nvSpPr>
          <p:cNvPr id="202" name="Text 16"/>
          <p:cNvSpPr txBox="1"/>
          <p:nvPr/>
        </p:nvSpPr>
        <p:spPr>
          <a:xfrm>
            <a:off x="5285232" y="1487346"/>
            <a:ext cx="100584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Router</a:t>
            </a:r>
          </a:p>
        </p:txBody>
      </p:sp>
      <p:sp>
        <p:nvSpPr>
          <p:cNvPr id="203" name="Shape 17"/>
          <p:cNvSpPr/>
          <p:nvPr/>
        </p:nvSpPr>
        <p:spPr>
          <a:xfrm>
            <a:off x="6309359" y="1554480"/>
            <a:ext cx="164593" cy="1"/>
          </a:xfrm>
          <a:prstGeom prst="line">
            <a:avLst/>
          </a:prstGeom>
          <a:ln w="15875">
            <a:solidFill>
              <a:srgbClr val="6B767C"/>
            </a:solidFill>
            <a:tailEnd type="triangle"/>
          </a:ln>
        </p:spPr>
        <p:txBody>
          <a:bodyPr lIns="45719" rIns="45719"/>
          <a:lstStyle/>
          <a:p>
            <a:pPr/>
          </a:p>
        </p:txBody>
      </p:sp>
      <p:sp>
        <p:nvSpPr>
          <p:cNvPr id="204" name="Shape 18"/>
          <p:cNvSpPr/>
          <p:nvPr/>
        </p:nvSpPr>
        <p:spPr>
          <a:xfrm>
            <a:off x="6492240" y="1234439"/>
            <a:ext cx="1005840" cy="640081"/>
          </a:xfrm>
          <a:prstGeom prst="rect">
            <a:avLst/>
          </a:prstGeom>
          <a:solidFill>
            <a:srgbClr val="1F2A30"/>
          </a:solidFill>
          <a:ln w="12700">
            <a:solidFill>
              <a:srgbClr val="1F2A30"/>
            </a:solidFill>
          </a:ln>
        </p:spPr>
        <p:txBody>
          <a:bodyPr lIns="45719" rIns="45719"/>
          <a:lstStyle/>
          <a:p>
            <a:pPr/>
          </a:p>
        </p:txBody>
      </p:sp>
      <p:sp>
        <p:nvSpPr>
          <p:cNvPr id="205" name="Text 19"/>
          <p:cNvSpPr txBox="1"/>
          <p:nvPr/>
        </p:nvSpPr>
        <p:spPr>
          <a:xfrm>
            <a:off x="6492240" y="1487346"/>
            <a:ext cx="100584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Proxy</a:t>
            </a:r>
          </a:p>
        </p:txBody>
      </p:sp>
      <p:sp>
        <p:nvSpPr>
          <p:cNvPr id="206" name="Shape 20"/>
          <p:cNvSpPr/>
          <p:nvPr/>
        </p:nvSpPr>
        <p:spPr>
          <a:xfrm>
            <a:off x="7516368" y="1554480"/>
            <a:ext cx="164593" cy="1"/>
          </a:xfrm>
          <a:prstGeom prst="line">
            <a:avLst/>
          </a:prstGeom>
          <a:ln w="15875">
            <a:solidFill>
              <a:srgbClr val="6B767C"/>
            </a:solidFill>
            <a:tailEnd type="triangle"/>
          </a:ln>
        </p:spPr>
        <p:txBody>
          <a:bodyPr lIns="45719" rIns="45719"/>
          <a:lstStyle/>
          <a:p>
            <a:pPr/>
          </a:p>
        </p:txBody>
      </p:sp>
      <p:sp>
        <p:nvSpPr>
          <p:cNvPr id="207" name="Shape 21"/>
          <p:cNvSpPr/>
          <p:nvPr/>
        </p:nvSpPr>
        <p:spPr>
          <a:xfrm>
            <a:off x="7699247" y="1234439"/>
            <a:ext cx="1005840" cy="640081"/>
          </a:xfrm>
          <a:prstGeom prst="rect">
            <a:avLst/>
          </a:prstGeom>
          <a:solidFill>
            <a:srgbClr val="EAF2EF"/>
          </a:solidFill>
          <a:ln w="12700">
            <a:solidFill>
              <a:srgbClr val="C7DBD3"/>
            </a:solidFill>
          </a:ln>
        </p:spPr>
        <p:txBody>
          <a:bodyPr lIns="45719" rIns="45719"/>
          <a:lstStyle/>
          <a:p>
            <a:pPr/>
          </a:p>
        </p:txBody>
      </p:sp>
      <p:sp>
        <p:nvSpPr>
          <p:cNvPr id="208" name="Text 22"/>
          <p:cNvSpPr txBox="1"/>
          <p:nvPr/>
        </p:nvSpPr>
        <p:spPr>
          <a:xfrm>
            <a:off x="7699247" y="1487346"/>
            <a:ext cx="100584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1F2A30"/>
                </a:solidFill>
              </a:defRPr>
            </a:lvl1pPr>
          </a:lstStyle>
          <a:p>
            <a:pPr/>
            <a:r>
              <a:t>Service</a:t>
            </a:r>
          </a:p>
        </p:txBody>
      </p:sp>
      <p:sp>
        <p:nvSpPr>
          <p:cNvPr id="209" name="Text 23"/>
          <p:cNvSpPr txBox="1"/>
          <p:nvPr/>
        </p:nvSpPr>
        <p:spPr>
          <a:xfrm>
            <a:off x="1664207" y="1938527"/>
            <a:ext cx="3419857"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i="1" sz="1000">
                <a:solidFill>
                  <a:srgbClr val="6B767C"/>
                </a:solidFill>
              </a:defRPr>
            </a:lvl1pPr>
          </a:lstStyle>
          <a:p>
            <a:pPr/>
            <a:r>
              <a:t>Chaîne de middlewares</a:t>
            </a:r>
          </a:p>
        </p:txBody>
      </p:sp>
      <p:sp>
        <p:nvSpPr>
          <p:cNvPr id="210" name="Shape 24"/>
          <p:cNvSpPr/>
          <p:nvPr/>
        </p:nvSpPr>
        <p:spPr>
          <a:xfrm>
            <a:off x="457199" y="2331720"/>
            <a:ext cx="4023361" cy="896113"/>
          </a:xfrm>
          <a:prstGeom prst="rect">
            <a:avLst/>
          </a:prstGeom>
          <a:solidFill>
            <a:srgbClr val="EAF2EF"/>
          </a:solidFill>
          <a:ln w="12700">
            <a:solidFill>
              <a:srgbClr val="EAF2EF"/>
            </a:solidFill>
          </a:ln>
        </p:spPr>
        <p:txBody>
          <a:bodyPr lIns="45719" rIns="45719"/>
          <a:lstStyle/>
          <a:p>
            <a:pPr/>
          </a:p>
        </p:txBody>
      </p:sp>
      <p:sp>
        <p:nvSpPr>
          <p:cNvPr id="211" name="Text 25"/>
          <p:cNvSpPr txBox="1"/>
          <p:nvPr/>
        </p:nvSpPr>
        <p:spPr>
          <a:xfrm>
            <a:off x="594359" y="2441448"/>
            <a:ext cx="3749042"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1F2A30"/>
                </a:solidFill>
                <a:latin typeface="Cambria"/>
                <a:ea typeface="Cambria"/>
                <a:cs typeface="Cambria"/>
                <a:sym typeface="Cambria"/>
              </a:defRPr>
            </a:lvl1pPr>
          </a:lstStyle>
          <a:p>
            <a:pPr/>
            <a:r>
              <a:t>Point d'entrée unique</a:t>
            </a:r>
          </a:p>
        </p:txBody>
      </p:sp>
      <p:sp>
        <p:nvSpPr>
          <p:cNvPr id="212" name="Text 26"/>
          <p:cNvSpPr txBox="1"/>
          <p:nvPr/>
        </p:nvSpPr>
        <p:spPr>
          <a:xfrm>
            <a:off x="594359" y="2743200"/>
            <a:ext cx="374904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2292D"/>
                </a:solidFill>
              </a:defRPr>
            </a:lvl1pPr>
          </a:lstStyle>
          <a:p>
            <a:pPr/>
            <a:r>
              <a:t>Le front n'appelle qu'une adresse et ignore la topologie interne.</a:t>
            </a:r>
          </a:p>
        </p:txBody>
      </p:sp>
      <p:sp>
        <p:nvSpPr>
          <p:cNvPr id="213" name="Shape 27"/>
          <p:cNvSpPr/>
          <p:nvPr/>
        </p:nvSpPr>
        <p:spPr>
          <a:xfrm>
            <a:off x="4663440" y="2331720"/>
            <a:ext cx="4023360" cy="896113"/>
          </a:xfrm>
          <a:prstGeom prst="rect">
            <a:avLst/>
          </a:prstGeom>
          <a:solidFill>
            <a:srgbClr val="EAF2EF"/>
          </a:solidFill>
          <a:ln w="12700">
            <a:solidFill>
              <a:srgbClr val="EAF2EF"/>
            </a:solidFill>
          </a:ln>
        </p:spPr>
        <p:txBody>
          <a:bodyPr lIns="45719" rIns="45719"/>
          <a:lstStyle/>
          <a:p>
            <a:pPr/>
          </a:p>
        </p:txBody>
      </p:sp>
      <p:sp>
        <p:nvSpPr>
          <p:cNvPr id="214" name="Text 28"/>
          <p:cNvSpPr txBox="1"/>
          <p:nvPr/>
        </p:nvSpPr>
        <p:spPr>
          <a:xfrm>
            <a:off x="4800600" y="2441448"/>
            <a:ext cx="374904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1F2A30"/>
                </a:solidFill>
                <a:latin typeface="Cambria"/>
                <a:ea typeface="Cambria"/>
                <a:cs typeface="Cambria"/>
                <a:sym typeface="Cambria"/>
              </a:defRPr>
            </a:lvl1pPr>
          </a:lstStyle>
          <a:p>
            <a:pPr/>
            <a:r>
              <a:t>Traitements transverses</a:t>
            </a:r>
          </a:p>
        </p:txBody>
      </p:sp>
      <p:sp>
        <p:nvSpPr>
          <p:cNvPr id="215" name="Text 29"/>
          <p:cNvSpPr txBox="1"/>
          <p:nvPr/>
        </p:nvSpPr>
        <p:spPr>
          <a:xfrm>
            <a:off x="4800600" y="2743200"/>
            <a:ext cx="3749041" cy="2993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2292D"/>
                </a:solidFill>
              </a:defRPr>
            </a:lvl1pPr>
          </a:lstStyle>
          <a:p>
            <a:pPr/>
            <a:r>
              <a:t>Journal des accès, CORS et vérification du jeton de connexion (JWT) sont centralisés.</a:t>
            </a:r>
          </a:p>
        </p:txBody>
      </p:sp>
      <p:sp>
        <p:nvSpPr>
          <p:cNvPr id="216" name="Shape 30"/>
          <p:cNvSpPr/>
          <p:nvPr/>
        </p:nvSpPr>
        <p:spPr>
          <a:xfrm>
            <a:off x="457199" y="3355847"/>
            <a:ext cx="4023361" cy="896113"/>
          </a:xfrm>
          <a:prstGeom prst="rect">
            <a:avLst/>
          </a:prstGeom>
          <a:solidFill>
            <a:srgbClr val="EAF2EF"/>
          </a:solidFill>
          <a:ln w="12700">
            <a:solidFill>
              <a:srgbClr val="EAF2EF"/>
            </a:solidFill>
          </a:ln>
        </p:spPr>
        <p:txBody>
          <a:bodyPr lIns="45719" rIns="45719"/>
          <a:lstStyle/>
          <a:p>
            <a:pPr/>
          </a:p>
        </p:txBody>
      </p:sp>
      <p:sp>
        <p:nvSpPr>
          <p:cNvPr id="217" name="Text 31"/>
          <p:cNvSpPr txBox="1"/>
          <p:nvPr/>
        </p:nvSpPr>
        <p:spPr>
          <a:xfrm>
            <a:off x="594359" y="3465576"/>
            <a:ext cx="3749042"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1F2A30"/>
                </a:solidFill>
                <a:latin typeface="Cambria"/>
                <a:ea typeface="Cambria"/>
                <a:cs typeface="Cambria"/>
                <a:sym typeface="Cambria"/>
              </a:defRPr>
            </a:lvl1pPr>
          </a:lstStyle>
          <a:p>
            <a:pPr/>
            <a:r>
              <a:t>Routes publiques</a:t>
            </a:r>
          </a:p>
        </p:txBody>
      </p:sp>
      <p:sp>
        <p:nvSpPr>
          <p:cNvPr id="218" name="Text 32"/>
          <p:cNvSpPr txBox="1"/>
          <p:nvPr/>
        </p:nvSpPr>
        <p:spPr>
          <a:xfrm>
            <a:off x="594359" y="3767328"/>
            <a:ext cx="374904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2292D"/>
                </a:solidFill>
              </a:defRPr>
            </a:lvl1pPr>
          </a:lstStyle>
          <a:p>
            <a:pPr/>
            <a:r>
              <a:t>Seules /auth/login et /auth/register sont accessibles sans jeton.</a:t>
            </a:r>
          </a:p>
        </p:txBody>
      </p:sp>
      <p:sp>
        <p:nvSpPr>
          <p:cNvPr id="219" name="Shape 33"/>
          <p:cNvSpPr/>
          <p:nvPr/>
        </p:nvSpPr>
        <p:spPr>
          <a:xfrm>
            <a:off x="4663440" y="3355847"/>
            <a:ext cx="4023360" cy="896113"/>
          </a:xfrm>
          <a:prstGeom prst="rect">
            <a:avLst/>
          </a:prstGeom>
          <a:solidFill>
            <a:srgbClr val="EAF2EF"/>
          </a:solidFill>
          <a:ln w="12700">
            <a:solidFill>
              <a:srgbClr val="EAF2EF"/>
            </a:solidFill>
          </a:ln>
        </p:spPr>
        <p:txBody>
          <a:bodyPr lIns="45719" rIns="45719"/>
          <a:lstStyle/>
          <a:p>
            <a:pPr/>
          </a:p>
        </p:txBody>
      </p:sp>
      <p:sp>
        <p:nvSpPr>
          <p:cNvPr id="220" name="Text 34"/>
          <p:cNvSpPr txBox="1"/>
          <p:nvPr/>
        </p:nvSpPr>
        <p:spPr>
          <a:xfrm>
            <a:off x="4800600" y="3465576"/>
            <a:ext cx="374904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1F2A30"/>
                </a:solidFill>
                <a:latin typeface="Cambria"/>
                <a:ea typeface="Cambria"/>
                <a:cs typeface="Cambria"/>
                <a:sym typeface="Cambria"/>
              </a:defRPr>
            </a:lvl1pPr>
          </a:lstStyle>
          <a:p>
            <a:pPr/>
            <a:r>
              <a:t>Aucune logique métier</a:t>
            </a:r>
          </a:p>
        </p:txBody>
      </p:sp>
      <p:sp>
        <p:nvSpPr>
          <p:cNvPr id="221" name="Text 35"/>
          <p:cNvSpPr txBox="1"/>
          <p:nvPr/>
        </p:nvSpPr>
        <p:spPr>
          <a:xfrm>
            <a:off x="4800600" y="3767328"/>
            <a:ext cx="3749041" cy="2993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2292D"/>
                </a:solidFill>
              </a:defRPr>
            </a:lvl1pPr>
          </a:lstStyle>
          <a:p>
            <a:pPr/>
            <a:r>
              <a:t>La Gateway route et transmet. Elle n'a donc pas besoin d'hexagone.</a:t>
            </a:r>
          </a:p>
        </p:txBody>
      </p:sp>
      <p:sp>
        <p:nvSpPr>
          <p:cNvPr id="222" name="Slide Number Placeholder 0"/>
          <p:cNvSpPr txBox="1"/>
          <p:nvPr>
            <p:ph type="sldNum" sz="quarter" idx="4294967295"/>
          </p:nvPr>
        </p:nvSpPr>
        <p:spPr>
          <a:xfrm>
            <a:off x="8479670" y="4818888"/>
            <a:ext cx="207131" cy="19601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6" name="Text 0"/>
          <p:cNvSpPr txBox="1"/>
          <p:nvPr/>
        </p:nvSpPr>
        <p:spPr>
          <a:xfrm>
            <a:off x="457200" y="256031"/>
            <a:ext cx="3657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00" sz="900">
                <a:solidFill>
                  <a:srgbClr val="B8672E"/>
                </a:solidFill>
              </a:defRPr>
            </a:lvl1pPr>
          </a:lstStyle>
          <a:p>
            <a:pPr/>
            <a:r>
              <a:t>LA SOLUTION</a:t>
            </a:r>
          </a:p>
        </p:txBody>
      </p:sp>
      <p:sp>
        <p:nvSpPr>
          <p:cNvPr id="227" name="Text 1"/>
          <p:cNvSpPr txBox="1"/>
          <p:nvPr/>
        </p:nvSpPr>
        <p:spPr>
          <a:xfrm>
            <a:off x="457200" y="530859"/>
            <a:ext cx="822960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400">
                <a:solidFill>
                  <a:srgbClr val="1F2A30"/>
                </a:solidFill>
                <a:latin typeface="Cambria"/>
                <a:ea typeface="Cambria"/>
                <a:cs typeface="Cambria"/>
                <a:sym typeface="Cambria"/>
              </a:defRPr>
            </a:lvl1pPr>
          </a:lstStyle>
          <a:p>
            <a:pPr/>
            <a:r>
              <a:t>API REST et DTO</a:t>
            </a:r>
          </a:p>
        </p:txBody>
      </p:sp>
      <p:sp>
        <p:nvSpPr>
          <p:cNvPr id="228" name="Text 2"/>
          <p:cNvSpPr txBox="1"/>
          <p:nvPr/>
        </p:nvSpPr>
        <p:spPr>
          <a:xfrm>
            <a:off x="457200" y="4846320"/>
            <a:ext cx="64008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6B767C"/>
                </a:solidFill>
              </a:defRPr>
            </a:lvl1pPr>
          </a:lstStyle>
          <a:p>
            <a:pPr/>
            <a:r>
              <a:t>Application bancaire multi-services · Architecture hexagonale</a:t>
            </a:r>
          </a:p>
        </p:txBody>
      </p:sp>
      <p:graphicFrame>
        <p:nvGraphicFramePr>
          <p:cNvPr id="229" name="Table 0"/>
          <p:cNvGraphicFramePr/>
          <p:nvPr/>
        </p:nvGraphicFramePr>
        <p:xfrm>
          <a:off x="457200" y="1051560"/>
          <a:ext cx="5120641" cy="363474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777240"/>
                <a:gridCol w="2331720"/>
                <a:gridCol w="1188720"/>
                <a:gridCol w="822960"/>
              </a:tblGrid>
              <a:tr h="242316">
                <a:tc>
                  <a:txBody>
                    <a:bodyPr/>
                    <a:lstStyle/>
                    <a:p>
                      <a:pPr algn="l">
                        <a:defRPr sz="1800"/>
                      </a:pPr>
                      <a:r>
                        <a:rPr sz="900">
                          <a:solidFill>
                            <a:srgbClr val="FFFFFF"/>
                          </a:solidFill>
                          <a:latin typeface="Cambria"/>
                          <a:ea typeface="Cambria"/>
                          <a:cs typeface="Cambria"/>
                          <a:sym typeface="Cambria"/>
                        </a:rPr>
                        <a:t>Méthode</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2F5D50"/>
                    </a:solidFill>
                  </a:tcPr>
                </a:tc>
                <a:tc>
                  <a:txBody>
                    <a:bodyPr/>
                    <a:lstStyle/>
                    <a:p>
                      <a:pPr algn="l">
                        <a:defRPr sz="1800"/>
                      </a:pPr>
                      <a:r>
                        <a:rPr sz="900">
                          <a:solidFill>
                            <a:srgbClr val="FFFFFF"/>
                          </a:solidFill>
                          <a:latin typeface="Cambria"/>
                          <a:ea typeface="Cambria"/>
                          <a:cs typeface="Cambria"/>
                          <a:sym typeface="Cambria"/>
                        </a:rPr>
                        <a:t>Route</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2F5D50"/>
                    </a:solidFill>
                  </a:tcPr>
                </a:tc>
                <a:tc>
                  <a:txBody>
                    <a:bodyPr/>
                    <a:lstStyle/>
                    <a:p>
                      <a:pPr algn="l">
                        <a:defRPr sz="1800"/>
                      </a:pPr>
                      <a:r>
                        <a:rPr sz="900">
                          <a:solidFill>
                            <a:srgbClr val="FFFFFF"/>
                          </a:solidFill>
                          <a:latin typeface="Cambria"/>
                          <a:ea typeface="Cambria"/>
                          <a:cs typeface="Cambria"/>
                          <a:sym typeface="Cambria"/>
                        </a:rPr>
                        <a:t>Service</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2F5D50"/>
                    </a:solidFill>
                  </a:tcPr>
                </a:tc>
                <a:tc>
                  <a:txBody>
                    <a:bodyPr/>
                    <a:lstStyle/>
                    <a:p>
                      <a:pPr algn="ctr">
                        <a:defRPr sz="1800"/>
                      </a:pPr>
                      <a:r>
                        <a:rPr sz="900">
                          <a:solidFill>
                            <a:srgbClr val="FFFFFF"/>
                          </a:solidFill>
                          <a:latin typeface="Cambria"/>
                          <a:ea typeface="Cambria"/>
                          <a:cs typeface="Cambria"/>
                          <a:sym typeface="Cambria"/>
                        </a:rPr>
                        <a:t>Succès</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2F5D50"/>
                    </a:solidFill>
                  </a:tcPr>
                </a:tc>
              </a:tr>
              <a:tr h="242316">
                <a:tc>
                  <a:txBody>
                    <a:bodyPr/>
                    <a:lstStyle/>
                    <a:p>
                      <a:pPr algn="l">
                        <a:defRPr sz="1800"/>
                      </a:pPr>
                      <a:r>
                        <a:rPr b="1" sz="900">
                          <a:solidFill>
                            <a:srgbClr val="2F5D50"/>
                          </a:solidFill>
                        </a:rPr>
                        <a:t>POST</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l">
                        <a:defRPr sz="1800"/>
                      </a:pPr>
                      <a:r>
                        <a:rPr sz="900">
                          <a:solidFill>
                            <a:srgbClr val="22292D"/>
                          </a:solidFill>
                          <a:latin typeface="Courier New"/>
                          <a:ea typeface="Courier New"/>
                          <a:cs typeface="Courier New"/>
                          <a:sym typeface="Courier New"/>
                        </a:rPr>
                        <a:t>/auth/register</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l">
                        <a:defRPr sz="1800"/>
                      </a:pPr>
                      <a:r>
                        <a:rPr sz="900">
                          <a:solidFill>
                            <a:srgbClr val="22292D"/>
                          </a:solidFill>
                        </a:rPr>
                        <a:t>Login</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ctr">
                        <a:defRPr sz="1800"/>
                      </a:pPr>
                      <a:r>
                        <a:rPr sz="900">
                          <a:solidFill>
                            <a:srgbClr val="22292D"/>
                          </a:solidFill>
                        </a:rPr>
                        <a:t>201</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r>
              <a:tr h="242316">
                <a:tc>
                  <a:txBody>
                    <a:bodyPr/>
                    <a:lstStyle/>
                    <a:p>
                      <a:pPr algn="l">
                        <a:defRPr sz="1800"/>
                      </a:pPr>
                      <a:r>
                        <a:rPr b="1" sz="900">
                          <a:solidFill>
                            <a:srgbClr val="2F5D50"/>
                          </a:solidFill>
                        </a:rPr>
                        <a:t>POST</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l">
                        <a:defRPr sz="1800"/>
                      </a:pPr>
                      <a:r>
                        <a:rPr sz="900">
                          <a:solidFill>
                            <a:srgbClr val="22292D"/>
                          </a:solidFill>
                          <a:latin typeface="Courier New"/>
                          <a:ea typeface="Courier New"/>
                          <a:cs typeface="Courier New"/>
                          <a:sym typeface="Courier New"/>
                        </a:rPr>
                        <a:t>/auth/login</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l">
                        <a:defRPr sz="1800"/>
                      </a:pPr>
                      <a:r>
                        <a:rPr sz="900">
                          <a:solidFill>
                            <a:srgbClr val="22292D"/>
                          </a:solidFill>
                        </a:rPr>
                        <a:t>Login</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ctr">
                        <a:defRPr sz="1800"/>
                      </a:pPr>
                      <a:r>
                        <a:rPr sz="900">
                          <a:solidFill>
                            <a:srgbClr val="22292D"/>
                          </a:solidFill>
                        </a:rPr>
                        <a:t>200</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r>
              <a:tr h="242316">
                <a:tc>
                  <a:txBody>
                    <a:bodyPr/>
                    <a:lstStyle/>
                    <a:p>
                      <a:pPr algn="l">
                        <a:defRPr sz="1800"/>
                      </a:pPr>
                      <a:r>
                        <a:rPr b="1" sz="900">
                          <a:solidFill>
                            <a:srgbClr val="2F5D50"/>
                          </a:solidFill>
                        </a:rPr>
                        <a:t>POST</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l">
                        <a:defRPr sz="1800"/>
                      </a:pPr>
                      <a:r>
                        <a:rPr sz="900">
                          <a:solidFill>
                            <a:srgbClr val="22292D"/>
                          </a:solidFill>
                          <a:latin typeface="Courier New"/>
                          <a:ea typeface="Courier New"/>
                          <a:cs typeface="Courier New"/>
                          <a:sym typeface="Courier New"/>
                        </a:rPr>
                        <a:t>/clients</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l">
                        <a:defRPr sz="1800"/>
                      </a:pPr>
                      <a:r>
                        <a:rPr sz="900">
                          <a:solidFill>
                            <a:srgbClr val="22292D"/>
                          </a:solidFill>
                        </a:rPr>
                        <a:t>Client</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ctr">
                        <a:defRPr sz="1800"/>
                      </a:pPr>
                      <a:r>
                        <a:rPr sz="900">
                          <a:solidFill>
                            <a:srgbClr val="22292D"/>
                          </a:solidFill>
                        </a:rPr>
                        <a:t>201</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r>
              <a:tr h="242316">
                <a:tc>
                  <a:txBody>
                    <a:bodyPr/>
                    <a:lstStyle/>
                    <a:p>
                      <a:pPr algn="l">
                        <a:defRPr sz="1800"/>
                      </a:pPr>
                      <a:r>
                        <a:rPr b="1" sz="900">
                          <a:solidFill>
                            <a:srgbClr val="2F5D50"/>
                          </a:solidFill>
                        </a:rPr>
                        <a:t>GET</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l">
                        <a:defRPr sz="1800"/>
                      </a:pPr>
                      <a:r>
                        <a:rPr sz="900">
                          <a:solidFill>
                            <a:srgbClr val="22292D"/>
                          </a:solidFill>
                          <a:latin typeface="Courier New"/>
                          <a:ea typeface="Courier New"/>
                          <a:cs typeface="Courier New"/>
                          <a:sym typeface="Courier New"/>
                        </a:rPr>
                        <a:t>/clients</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l">
                        <a:defRPr sz="1800"/>
                      </a:pPr>
                      <a:r>
                        <a:rPr sz="900">
                          <a:solidFill>
                            <a:srgbClr val="22292D"/>
                          </a:solidFill>
                        </a:rPr>
                        <a:t>Client</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ctr">
                        <a:defRPr sz="1800"/>
                      </a:pPr>
                      <a:r>
                        <a:rPr sz="900">
                          <a:solidFill>
                            <a:srgbClr val="22292D"/>
                          </a:solidFill>
                        </a:rPr>
                        <a:t>200</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r>
              <a:tr h="242316">
                <a:tc>
                  <a:txBody>
                    <a:bodyPr/>
                    <a:lstStyle/>
                    <a:p>
                      <a:pPr algn="l">
                        <a:defRPr sz="1800"/>
                      </a:pPr>
                      <a:r>
                        <a:rPr b="1" sz="900">
                          <a:solidFill>
                            <a:srgbClr val="2F5D50"/>
                          </a:solidFill>
                        </a:rPr>
                        <a:t>GET</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l">
                        <a:defRPr sz="1800"/>
                      </a:pPr>
                      <a:r>
                        <a:rPr sz="900">
                          <a:solidFill>
                            <a:srgbClr val="22292D"/>
                          </a:solidFill>
                          <a:latin typeface="Courier New"/>
                          <a:ea typeface="Courier New"/>
                          <a:cs typeface="Courier New"/>
                          <a:sym typeface="Courier New"/>
                        </a:rPr>
                        <a:t>/clients/{id}</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l">
                        <a:defRPr sz="1800"/>
                      </a:pPr>
                      <a:r>
                        <a:rPr sz="900">
                          <a:solidFill>
                            <a:srgbClr val="22292D"/>
                          </a:solidFill>
                        </a:rPr>
                        <a:t>Client</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ctr">
                        <a:defRPr sz="1800"/>
                      </a:pPr>
                      <a:r>
                        <a:rPr sz="900">
                          <a:solidFill>
                            <a:srgbClr val="22292D"/>
                          </a:solidFill>
                        </a:rPr>
                        <a:t>200</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r>
              <a:tr h="242316">
                <a:tc>
                  <a:txBody>
                    <a:bodyPr/>
                    <a:lstStyle/>
                    <a:p>
                      <a:pPr algn="l">
                        <a:defRPr sz="1800"/>
                      </a:pPr>
                      <a:r>
                        <a:rPr b="1" sz="900">
                          <a:solidFill>
                            <a:srgbClr val="2F5D50"/>
                          </a:solidFill>
                        </a:rPr>
                        <a:t>POST</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l">
                        <a:defRPr sz="1800"/>
                      </a:pPr>
                      <a:r>
                        <a:rPr sz="900">
                          <a:solidFill>
                            <a:srgbClr val="22292D"/>
                          </a:solidFill>
                          <a:latin typeface="Courier New"/>
                          <a:ea typeface="Courier New"/>
                          <a:cs typeface="Courier New"/>
                          <a:sym typeface="Courier New"/>
                        </a:rPr>
                        <a:t>/accounts</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l">
                        <a:defRPr sz="1800"/>
                      </a:pPr>
                      <a:r>
                        <a:rPr sz="900">
                          <a:solidFill>
                            <a:srgbClr val="22292D"/>
                          </a:solidFill>
                        </a:rPr>
                        <a:t>Compte</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ctr">
                        <a:defRPr sz="1800"/>
                      </a:pPr>
                      <a:r>
                        <a:rPr sz="900">
                          <a:solidFill>
                            <a:srgbClr val="22292D"/>
                          </a:solidFill>
                        </a:rPr>
                        <a:t>201</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r>
              <a:tr h="242316">
                <a:tc>
                  <a:txBody>
                    <a:bodyPr/>
                    <a:lstStyle/>
                    <a:p>
                      <a:pPr algn="l">
                        <a:defRPr sz="1800"/>
                      </a:pPr>
                      <a:r>
                        <a:rPr b="1" sz="900">
                          <a:solidFill>
                            <a:srgbClr val="2F5D50"/>
                          </a:solidFill>
                        </a:rPr>
                        <a:t>GET</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l">
                        <a:defRPr sz="1800"/>
                      </a:pPr>
                      <a:r>
                        <a:rPr sz="900">
                          <a:solidFill>
                            <a:srgbClr val="22292D"/>
                          </a:solidFill>
                          <a:latin typeface="Courier New"/>
                          <a:ea typeface="Courier New"/>
                          <a:cs typeface="Courier New"/>
                          <a:sym typeface="Courier New"/>
                        </a:rPr>
                        <a:t>/accounts</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l">
                        <a:defRPr sz="1800"/>
                      </a:pPr>
                      <a:r>
                        <a:rPr sz="900">
                          <a:solidFill>
                            <a:srgbClr val="22292D"/>
                          </a:solidFill>
                        </a:rPr>
                        <a:t>Compte</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ctr">
                        <a:defRPr sz="1800"/>
                      </a:pPr>
                      <a:r>
                        <a:rPr sz="900">
                          <a:solidFill>
                            <a:srgbClr val="22292D"/>
                          </a:solidFill>
                        </a:rPr>
                        <a:t>200</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r>
              <a:tr h="242316">
                <a:tc>
                  <a:txBody>
                    <a:bodyPr/>
                    <a:lstStyle/>
                    <a:p>
                      <a:pPr algn="l">
                        <a:defRPr sz="1800"/>
                      </a:pPr>
                      <a:r>
                        <a:rPr b="1" sz="900">
                          <a:solidFill>
                            <a:srgbClr val="2F5D50"/>
                          </a:solidFill>
                        </a:rPr>
                        <a:t>GET</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l">
                        <a:defRPr sz="1800"/>
                      </a:pPr>
                      <a:r>
                        <a:rPr sz="900">
                          <a:solidFill>
                            <a:srgbClr val="22292D"/>
                          </a:solidFill>
                          <a:latin typeface="Courier New"/>
                          <a:ea typeface="Courier New"/>
                          <a:cs typeface="Courier New"/>
                          <a:sym typeface="Courier New"/>
                        </a:rPr>
                        <a:t>/accounts/{id}</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l">
                        <a:defRPr sz="1800"/>
                      </a:pPr>
                      <a:r>
                        <a:rPr sz="900">
                          <a:solidFill>
                            <a:srgbClr val="22292D"/>
                          </a:solidFill>
                        </a:rPr>
                        <a:t>Compte</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ctr">
                        <a:defRPr sz="1800"/>
                      </a:pPr>
                      <a:r>
                        <a:rPr sz="900">
                          <a:solidFill>
                            <a:srgbClr val="22292D"/>
                          </a:solidFill>
                        </a:rPr>
                        <a:t>200</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r>
              <a:tr h="242316">
                <a:tc>
                  <a:txBody>
                    <a:bodyPr/>
                    <a:lstStyle/>
                    <a:p>
                      <a:pPr algn="l">
                        <a:defRPr sz="1800"/>
                      </a:pPr>
                      <a:r>
                        <a:rPr b="1" sz="900">
                          <a:solidFill>
                            <a:srgbClr val="2F5D50"/>
                          </a:solidFill>
                        </a:rPr>
                        <a:t>POST</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l">
                        <a:defRPr sz="1800"/>
                      </a:pPr>
                      <a:r>
                        <a:rPr sz="900">
                          <a:solidFill>
                            <a:srgbClr val="22292D"/>
                          </a:solidFill>
                          <a:latin typeface="Courier New"/>
                          <a:ea typeface="Courier New"/>
                          <a:cs typeface="Courier New"/>
                          <a:sym typeface="Courier New"/>
                        </a:rPr>
                        <a:t>/accounts/{id}/deposit</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l">
                        <a:defRPr sz="1800"/>
                      </a:pPr>
                      <a:r>
                        <a:rPr sz="900">
                          <a:solidFill>
                            <a:srgbClr val="22292D"/>
                          </a:solidFill>
                        </a:rPr>
                        <a:t>Compte</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ctr">
                        <a:defRPr sz="1800"/>
                      </a:pPr>
                      <a:r>
                        <a:rPr sz="900">
                          <a:solidFill>
                            <a:srgbClr val="22292D"/>
                          </a:solidFill>
                        </a:rPr>
                        <a:t>200</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r>
              <a:tr h="242316">
                <a:tc>
                  <a:txBody>
                    <a:bodyPr/>
                    <a:lstStyle/>
                    <a:p>
                      <a:pPr algn="l">
                        <a:defRPr sz="1800"/>
                      </a:pPr>
                      <a:r>
                        <a:rPr b="1" sz="900">
                          <a:solidFill>
                            <a:srgbClr val="2F5D50"/>
                          </a:solidFill>
                        </a:rPr>
                        <a:t>POST</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l">
                        <a:defRPr sz="1800"/>
                      </a:pPr>
                      <a:r>
                        <a:rPr sz="900">
                          <a:solidFill>
                            <a:srgbClr val="22292D"/>
                          </a:solidFill>
                          <a:latin typeface="Courier New"/>
                          <a:ea typeface="Courier New"/>
                          <a:cs typeface="Courier New"/>
                          <a:sym typeface="Courier New"/>
                        </a:rPr>
                        <a:t>/accounts/{id}/withdraw</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l">
                        <a:defRPr sz="1800"/>
                      </a:pPr>
                      <a:r>
                        <a:rPr sz="900">
                          <a:solidFill>
                            <a:srgbClr val="22292D"/>
                          </a:solidFill>
                        </a:rPr>
                        <a:t>Compte</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ctr">
                        <a:defRPr sz="1800"/>
                      </a:pPr>
                      <a:r>
                        <a:rPr sz="900">
                          <a:solidFill>
                            <a:srgbClr val="22292D"/>
                          </a:solidFill>
                        </a:rPr>
                        <a:t>200</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r>
              <a:tr h="242316">
                <a:tc>
                  <a:txBody>
                    <a:bodyPr/>
                    <a:lstStyle/>
                    <a:p>
                      <a:pPr algn="l">
                        <a:defRPr sz="1800"/>
                      </a:pPr>
                      <a:r>
                        <a:rPr b="1" sz="900">
                          <a:solidFill>
                            <a:srgbClr val="2F5D50"/>
                          </a:solidFill>
                        </a:rPr>
                        <a:t>POST</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l">
                        <a:defRPr sz="1800"/>
                      </a:pPr>
                      <a:r>
                        <a:rPr sz="900">
                          <a:solidFill>
                            <a:srgbClr val="22292D"/>
                          </a:solidFill>
                          <a:latin typeface="Courier New"/>
                          <a:ea typeface="Courier New"/>
                          <a:cs typeface="Courier New"/>
                          <a:sym typeface="Courier New"/>
                        </a:rPr>
                        <a:t>/transactions</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l">
                        <a:defRPr sz="1800"/>
                      </a:pPr>
                      <a:r>
                        <a:rPr sz="900">
                          <a:solidFill>
                            <a:srgbClr val="22292D"/>
                          </a:solidFill>
                        </a:rPr>
                        <a:t>Transaction</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ctr">
                        <a:defRPr sz="1800"/>
                      </a:pPr>
                      <a:r>
                        <a:rPr sz="900">
                          <a:solidFill>
                            <a:srgbClr val="22292D"/>
                          </a:solidFill>
                        </a:rPr>
                        <a:t>201</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r>
              <a:tr h="242316">
                <a:tc>
                  <a:txBody>
                    <a:bodyPr/>
                    <a:lstStyle/>
                    <a:p>
                      <a:pPr algn="l">
                        <a:defRPr sz="1800"/>
                      </a:pPr>
                      <a:r>
                        <a:rPr b="1" sz="900">
                          <a:solidFill>
                            <a:srgbClr val="2F5D50"/>
                          </a:solidFill>
                        </a:rPr>
                        <a:t>GET</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l">
                        <a:defRPr sz="1800"/>
                      </a:pPr>
                      <a:r>
                        <a:rPr sz="900">
                          <a:solidFill>
                            <a:srgbClr val="22292D"/>
                          </a:solidFill>
                          <a:latin typeface="Courier New"/>
                          <a:ea typeface="Courier New"/>
                          <a:cs typeface="Courier New"/>
                          <a:sym typeface="Courier New"/>
                        </a:rPr>
                        <a:t>/transactions</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l">
                        <a:defRPr sz="1800"/>
                      </a:pPr>
                      <a:r>
                        <a:rPr sz="900">
                          <a:solidFill>
                            <a:srgbClr val="22292D"/>
                          </a:solidFill>
                        </a:rPr>
                        <a:t>Transaction</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ctr">
                        <a:defRPr sz="1800"/>
                      </a:pPr>
                      <a:r>
                        <a:rPr sz="900">
                          <a:solidFill>
                            <a:srgbClr val="22292D"/>
                          </a:solidFill>
                        </a:rPr>
                        <a:t>200</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r>
              <a:tr h="242316">
                <a:tc>
                  <a:txBody>
                    <a:bodyPr/>
                    <a:lstStyle/>
                    <a:p>
                      <a:pPr algn="l">
                        <a:defRPr sz="1800"/>
                      </a:pPr>
                      <a:r>
                        <a:rPr b="1" sz="900">
                          <a:solidFill>
                            <a:srgbClr val="2F5D50"/>
                          </a:solidFill>
                        </a:rPr>
                        <a:t>GET</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l">
                        <a:defRPr sz="1800"/>
                      </a:pPr>
                      <a:r>
                        <a:rPr sz="900">
                          <a:solidFill>
                            <a:srgbClr val="22292D"/>
                          </a:solidFill>
                          <a:latin typeface="Courier New"/>
                          <a:ea typeface="Courier New"/>
                          <a:cs typeface="Courier New"/>
                          <a:sym typeface="Courier New"/>
                        </a:rPr>
                        <a:t>/transactions/{id}</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l">
                        <a:defRPr sz="1800"/>
                      </a:pPr>
                      <a:r>
                        <a:rPr sz="900">
                          <a:solidFill>
                            <a:srgbClr val="22292D"/>
                          </a:solidFill>
                        </a:rPr>
                        <a:t>Transaction</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ctr">
                        <a:defRPr sz="1800"/>
                      </a:pPr>
                      <a:r>
                        <a:rPr sz="900">
                          <a:solidFill>
                            <a:srgbClr val="22292D"/>
                          </a:solidFill>
                        </a:rPr>
                        <a:t>200</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r>
              <a:tr h="242316">
                <a:tc>
                  <a:txBody>
                    <a:bodyPr/>
                    <a:lstStyle/>
                    <a:p>
                      <a:pPr algn="l">
                        <a:defRPr sz="1800"/>
                      </a:pPr>
                      <a:r>
                        <a:rPr b="1" sz="900">
                          <a:solidFill>
                            <a:srgbClr val="2F5D50"/>
                          </a:solidFill>
                        </a:rPr>
                        <a:t>GET</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l">
                        <a:defRPr sz="1800"/>
                      </a:pPr>
                      <a:r>
                        <a:rPr sz="900">
                          <a:solidFill>
                            <a:srgbClr val="22292D"/>
                          </a:solidFill>
                          <a:latin typeface="Courier New"/>
                          <a:ea typeface="Courier New"/>
                          <a:cs typeface="Courier New"/>
                          <a:sym typeface="Courier New"/>
                        </a:rPr>
                        <a:t>/accounts/{id}/transactions</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l">
                        <a:defRPr sz="1800"/>
                      </a:pPr>
                      <a:r>
                        <a:rPr sz="900">
                          <a:solidFill>
                            <a:srgbClr val="22292D"/>
                          </a:solidFill>
                        </a:rPr>
                        <a:t>Transaction</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ctr">
                        <a:defRPr sz="1800"/>
                      </a:pPr>
                      <a:r>
                        <a:rPr sz="900">
                          <a:solidFill>
                            <a:srgbClr val="22292D"/>
                          </a:solidFill>
                        </a:rPr>
                        <a:t>200</a:t>
                      </a:r>
                    </a:p>
                  </a:txBody>
                  <a:tcPr marL="12700" marR="12700" marT="12700" marB="127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r>
            </a:tbl>
          </a:graphicData>
        </a:graphic>
      </p:graphicFrame>
      <p:sp>
        <p:nvSpPr>
          <p:cNvPr id="230" name="Shape 3"/>
          <p:cNvSpPr/>
          <p:nvPr/>
        </p:nvSpPr>
        <p:spPr>
          <a:xfrm>
            <a:off x="5852159" y="1097280"/>
            <a:ext cx="2834641" cy="1554481"/>
          </a:xfrm>
          <a:prstGeom prst="rect">
            <a:avLst/>
          </a:prstGeom>
          <a:solidFill>
            <a:srgbClr val="EAF2EF"/>
          </a:solidFill>
          <a:ln w="12700">
            <a:solidFill>
              <a:srgbClr val="EAF2EF"/>
            </a:solidFill>
          </a:ln>
        </p:spPr>
        <p:txBody>
          <a:bodyPr lIns="45719" rIns="45719"/>
          <a:lstStyle/>
          <a:p>
            <a:pPr/>
          </a:p>
        </p:txBody>
      </p:sp>
      <p:sp>
        <p:nvSpPr>
          <p:cNvPr id="231" name="Text 4"/>
          <p:cNvSpPr txBox="1"/>
          <p:nvPr/>
        </p:nvSpPr>
        <p:spPr>
          <a:xfrm>
            <a:off x="5989320" y="1207008"/>
            <a:ext cx="256032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1F2A30"/>
                </a:solidFill>
                <a:latin typeface="Cambria"/>
                <a:ea typeface="Cambria"/>
                <a:cs typeface="Cambria"/>
                <a:sym typeface="Cambria"/>
              </a:defRPr>
            </a:lvl1pPr>
          </a:lstStyle>
          <a:p>
            <a:pPr/>
            <a:r>
              <a:t>DTO obligatoires</a:t>
            </a:r>
          </a:p>
        </p:txBody>
      </p:sp>
      <p:sp>
        <p:nvSpPr>
          <p:cNvPr id="232" name="Text 5"/>
          <p:cNvSpPr txBox="1"/>
          <p:nvPr/>
        </p:nvSpPr>
        <p:spPr>
          <a:xfrm>
            <a:off x="5989320" y="1508760"/>
            <a:ext cx="2560321" cy="4644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2292D"/>
                </a:solidFill>
              </a:defRPr>
            </a:lvl1pPr>
          </a:lstStyle>
          <a:p>
            <a:pPr/>
            <a:r>
              <a:t>Un DTO (Data Transfer Object) transporte uniquement les données de la réponse. Les contrôleurs n'exposent jamais une entité.</a:t>
            </a:r>
          </a:p>
        </p:txBody>
      </p:sp>
      <p:sp>
        <p:nvSpPr>
          <p:cNvPr id="233" name="Shape 6"/>
          <p:cNvSpPr/>
          <p:nvPr/>
        </p:nvSpPr>
        <p:spPr>
          <a:xfrm>
            <a:off x="5852159" y="2788920"/>
            <a:ext cx="2834641" cy="1737361"/>
          </a:xfrm>
          <a:prstGeom prst="rect">
            <a:avLst/>
          </a:prstGeom>
          <a:solidFill>
            <a:srgbClr val="EAF2EF"/>
          </a:solidFill>
          <a:ln w="12700">
            <a:solidFill>
              <a:srgbClr val="EAF2EF"/>
            </a:solidFill>
          </a:ln>
        </p:spPr>
        <p:txBody>
          <a:bodyPr lIns="45719" rIns="45719"/>
          <a:lstStyle/>
          <a:p>
            <a:pPr/>
          </a:p>
        </p:txBody>
      </p:sp>
      <p:sp>
        <p:nvSpPr>
          <p:cNvPr id="234" name="Text 7"/>
          <p:cNvSpPr txBox="1"/>
          <p:nvPr/>
        </p:nvSpPr>
        <p:spPr>
          <a:xfrm>
            <a:off x="5989320" y="2898648"/>
            <a:ext cx="256032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1F2A30"/>
                </a:solidFill>
                <a:latin typeface="Cambria"/>
                <a:ea typeface="Cambria"/>
                <a:cs typeface="Cambria"/>
                <a:sym typeface="Cambria"/>
              </a:defRPr>
            </a:lvl1pPr>
          </a:lstStyle>
          <a:p>
            <a:pPr/>
            <a:r>
              <a:t>Contrôleurs légers</a:t>
            </a:r>
          </a:p>
        </p:txBody>
      </p:sp>
      <p:sp>
        <p:nvSpPr>
          <p:cNvPr id="235" name="Text 8"/>
          <p:cNvSpPr txBox="1"/>
          <p:nvPr/>
        </p:nvSpPr>
        <p:spPr>
          <a:xfrm>
            <a:off x="5989320" y="3200400"/>
            <a:ext cx="2560321" cy="4644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2292D"/>
                </a:solidFill>
              </a:defRPr>
            </a:lvl1pPr>
          </a:lstStyle>
          <a:p>
            <a:pPr/>
            <a:r>
              <a:t>Un contrôleur lit la requête, appelle un use case et renvoie un DTO. Aucune règle métier n'y est écrite.</a:t>
            </a:r>
          </a:p>
        </p:txBody>
      </p:sp>
      <p:sp>
        <p:nvSpPr>
          <p:cNvPr id="236" name="Slide Number Placeholder 0"/>
          <p:cNvSpPr txBox="1"/>
          <p:nvPr>
            <p:ph type="sldNum" sz="quarter" idx="4294967295"/>
          </p:nvPr>
        </p:nvSpPr>
        <p:spPr>
          <a:xfrm>
            <a:off x="8479670" y="4818888"/>
            <a:ext cx="207131" cy="19601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0" name="Text 0"/>
          <p:cNvSpPr txBox="1"/>
          <p:nvPr/>
        </p:nvSpPr>
        <p:spPr>
          <a:xfrm>
            <a:off x="457200" y="256031"/>
            <a:ext cx="3657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00" sz="900">
                <a:solidFill>
                  <a:srgbClr val="B8672E"/>
                </a:solidFill>
              </a:defRPr>
            </a:lvl1pPr>
          </a:lstStyle>
          <a:p>
            <a:pPr/>
            <a:r>
              <a:t>LA SOLUTION</a:t>
            </a:r>
          </a:p>
        </p:txBody>
      </p:sp>
      <p:sp>
        <p:nvSpPr>
          <p:cNvPr id="241" name="Text 1"/>
          <p:cNvSpPr txBox="1"/>
          <p:nvPr/>
        </p:nvSpPr>
        <p:spPr>
          <a:xfrm>
            <a:off x="457200" y="530859"/>
            <a:ext cx="822960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400">
                <a:solidFill>
                  <a:srgbClr val="1F2A30"/>
                </a:solidFill>
                <a:latin typeface="Cambria"/>
                <a:ea typeface="Cambria"/>
                <a:cs typeface="Cambria"/>
                <a:sym typeface="Cambria"/>
              </a:defRPr>
            </a:lvl1pPr>
          </a:lstStyle>
          <a:p>
            <a:pPr/>
            <a:r>
              <a:t>Gestion des erreurs</a:t>
            </a:r>
          </a:p>
        </p:txBody>
      </p:sp>
      <p:sp>
        <p:nvSpPr>
          <p:cNvPr id="242" name="Text 2"/>
          <p:cNvSpPr txBox="1"/>
          <p:nvPr/>
        </p:nvSpPr>
        <p:spPr>
          <a:xfrm>
            <a:off x="457200" y="4846320"/>
            <a:ext cx="64008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6B767C"/>
                </a:solidFill>
              </a:defRPr>
            </a:lvl1pPr>
          </a:lstStyle>
          <a:p>
            <a:pPr/>
            <a:r>
              <a:t>Application bancaire multi-services · Architecture hexagonale</a:t>
            </a:r>
          </a:p>
        </p:txBody>
      </p:sp>
      <p:sp>
        <p:nvSpPr>
          <p:cNvPr id="243" name="Shape 3"/>
          <p:cNvSpPr/>
          <p:nvPr/>
        </p:nvSpPr>
        <p:spPr>
          <a:xfrm>
            <a:off x="457199" y="1143000"/>
            <a:ext cx="1874522" cy="1097281"/>
          </a:xfrm>
          <a:prstGeom prst="rect">
            <a:avLst/>
          </a:prstGeom>
          <a:solidFill>
            <a:srgbClr val="EAF2EF"/>
          </a:solidFill>
          <a:ln w="12700">
            <a:solidFill>
              <a:srgbClr val="EAF2EF"/>
            </a:solidFill>
          </a:ln>
        </p:spPr>
        <p:txBody>
          <a:bodyPr lIns="45719" rIns="45719"/>
          <a:lstStyle/>
          <a:p>
            <a:pPr/>
          </a:p>
        </p:txBody>
      </p:sp>
      <p:sp>
        <p:nvSpPr>
          <p:cNvPr id="244" name="Text 4"/>
          <p:cNvSpPr txBox="1"/>
          <p:nvPr/>
        </p:nvSpPr>
        <p:spPr>
          <a:xfrm>
            <a:off x="594359" y="1243583"/>
            <a:ext cx="16002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1F2A30"/>
                </a:solidFill>
                <a:latin typeface="Cambria"/>
                <a:ea typeface="Cambria"/>
                <a:cs typeface="Cambria"/>
                <a:sym typeface="Cambria"/>
              </a:defRPr>
            </a:lvl1pPr>
          </a:lstStyle>
          <a:p>
            <a:pPr/>
            <a:r>
              <a:t>Domaine</a:t>
            </a:r>
          </a:p>
        </p:txBody>
      </p:sp>
      <p:sp>
        <p:nvSpPr>
          <p:cNvPr id="245" name="Text 5"/>
          <p:cNvSpPr txBox="1"/>
          <p:nvPr/>
        </p:nvSpPr>
        <p:spPr>
          <a:xfrm>
            <a:off x="594359" y="1572767"/>
            <a:ext cx="1600201" cy="2993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2292D"/>
                </a:solidFill>
              </a:defRPr>
            </a:lvl1pPr>
          </a:lstStyle>
          <a:p>
            <a:pPr/>
            <a:r>
              <a:t>Compte::retirer() lève SoldeInsuffisantException</a:t>
            </a:r>
          </a:p>
        </p:txBody>
      </p:sp>
      <p:sp>
        <p:nvSpPr>
          <p:cNvPr id="246" name="Shape 6"/>
          <p:cNvSpPr/>
          <p:nvPr/>
        </p:nvSpPr>
        <p:spPr>
          <a:xfrm>
            <a:off x="2350007" y="1691639"/>
            <a:ext cx="219457" cy="1"/>
          </a:xfrm>
          <a:prstGeom prst="line">
            <a:avLst/>
          </a:prstGeom>
          <a:ln w="15875">
            <a:solidFill>
              <a:srgbClr val="6B767C"/>
            </a:solidFill>
            <a:tailEnd type="triangle"/>
          </a:ln>
        </p:spPr>
        <p:txBody>
          <a:bodyPr lIns="45719" rIns="45719"/>
          <a:lstStyle/>
          <a:p>
            <a:pPr/>
          </a:p>
        </p:txBody>
      </p:sp>
      <p:sp>
        <p:nvSpPr>
          <p:cNvPr id="247" name="Shape 7"/>
          <p:cNvSpPr/>
          <p:nvPr/>
        </p:nvSpPr>
        <p:spPr>
          <a:xfrm>
            <a:off x="2587751" y="1143000"/>
            <a:ext cx="1874522" cy="1097281"/>
          </a:xfrm>
          <a:prstGeom prst="rect">
            <a:avLst/>
          </a:prstGeom>
          <a:solidFill>
            <a:srgbClr val="EAF2EF"/>
          </a:solidFill>
          <a:ln w="12700">
            <a:solidFill>
              <a:srgbClr val="EAF2EF"/>
            </a:solidFill>
          </a:ln>
        </p:spPr>
        <p:txBody>
          <a:bodyPr lIns="45719" rIns="45719"/>
          <a:lstStyle/>
          <a:p>
            <a:pPr/>
          </a:p>
        </p:txBody>
      </p:sp>
      <p:sp>
        <p:nvSpPr>
          <p:cNvPr id="248" name="Text 8"/>
          <p:cNvSpPr txBox="1"/>
          <p:nvPr/>
        </p:nvSpPr>
        <p:spPr>
          <a:xfrm>
            <a:off x="2724911" y="1243583"/>
            <a:ext cx="16002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1F2A30"/>
                </a:solidFill>
                <a:latin typeface="Cambria"/>
                <a:ea typeface="Cambria"/>
                <a:cs typeface="Cambria"/>
                <a:sym typeface="Cambria"/>
              </a:defRPr>
            </a:lvl1pPr>
          </a:lstStyle>
          <a:p>
            <a:pPr/>
            <a:r>
              <a:t>Use case</a:t>
            </a:r>
          </a:p>
        </p:txBody>
      </p:sp>
      <p:sp>
        <p:nvSpPr>
          <p:cNvPr id="249" name="Text 9"/>
          <p:cNvSpPr txBox="1"/>
          <p:nvPr/>
        </p:nvSpPr>
        <p:spPr>
          <a:xfrm>
            <a:off x="2724911" y="1572767"/>
            <a:ext cx="1600201" cy="2993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2292D"/>
                </a:solidFill>
              </a:defRPr>
            </a:lvl1pPr>
          </a:lstStyle>
          <a:p>
            <a:pPr/>
            <a:r>
              <a:t>laisse remonter l'exception sans try/catch</a:t>
            </a:r>
          </a:p>
        </p:txBody>
      </p:sp>
      <p:sp>
        <p:nvSpPr>
          <p:cNvPr id="250" name="Shape 10"/>
          <p:cNvSpPr/>
          <p:nvPr/>
        </p:nvSpPr>
        <p:spPr>
          <a:xfrm>
            <a:off x="4480559" y="1691639"/>
            <a:ext cx="219457" cy="1"/>
          </a:xfrm>
          <a:prstGeom prst="line">
            <a:avLst/>
          </a:prstGeom>
          <a:ln w="15875">
            <a:solidFill>
              <a:srgbClr val="6B767C"/>
            </a:solidFill>
            <a:tailEnd type="triangle"/>
          </a:ln>
        </p:spPr>
        <p:txBody>
          <a:bodyPr lIns="45719" rIns="45719"/>
          <a:lstStyle/>
          <a:p>
            <a:pPr/>
          </a:p>
        </p:txBody>
      </p:sp>
      <p:sp>
        <p:nvSpPr>
          <p:cNvPr id="251" name="Shape 11"/>
          <p:cNvSpPr/>
          <p:nvPr/>
        </p:nvSpPr>
        <p:spPr>
          <a:xfrm>
            <a:off x="4718303" y="1143000"/>
            <a:ext cx="1874521" cy="1097281"/>
          </a:xfrm>
          <a:prstGeom prst="rect">
            <a:avLst/>
          </a:prstGeom>
          <a:solidFill>
            <a:srgbClr val="EAF2EF"/>
          </a:solidFill>
          <a:ln w="12700">
            <a:solidFill>
              <a:srgbClr val="EAF2EF"/>
            </a:solidFill>
          </a:ln>
        </p:spPr>
        <p:txBody>
          <a:bodyPr lIns="45719" rIns="45719"/>
          <a:lstStyle/>
          <a:p>
            <a:pPr/>
          </a:p>
        </p:txBody>
      </p:sp>
      <p:sp>
        <p:nvSpPr>
          <p:cNvPr id="252" name="Text 12"/>
          <p:cNvSpPr txBox="1"/>
          <p:nvPr/>
        </p:nvSpPr>
        <p:spPr>
          <a:xfrm>
            <a:off x="4855464" y="1243583"/>
            <a:ext cx="16002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1F2A30"/>
                </a:solidFill>
                <a:latin typeface="Cambria"/>
                <a:ea typeface="Cambria"/>
                <a:cs typeface="Cambria"/>
                <a:sym typeface="Cambria"/>
              </a:defRPr>
            </a:lvl1pPr>
          </a:lstStyle>
          <a:p>
            <a:pPr/>
            <a:r>
              <a:t>Handler global</a:t>
            </a:r>
          </a:p>
        </p:txBody>
      </p:sp>
      <p:sp>
        <p:nvSpPr>
          <p:cNvPr id="253" name="Text 13"/>
          <p:cNvSpPr txBox="1"/>
          <p:nvPr/>
        </p:nvSpPr>
        <p:spPr>
          <a:xfrm>
            <a:off x="4855464" y="1572767"/>
            <a:ext cx="1600201" cy="2993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2292D"/>
                </a:solidFill>
              </a:defRPr>
            </a:lvl1pPr>
          </a:lstStyle>
          <a:p>
            <a:pPr/>
            <a:r>
              <a:t>intercepte toutes les erreurs de l'application</a:t>
            </a:r>
          </a:p>
        </p:txBody>
      </p:sp>
      <p:sp>
        <p:nvSpPr>
          <p:cNvPr id="254" name="Shape 14"/>
          <p:cNvSpPr/>
          <p:nvPr/>
        </p:nvSpPr>
        <p:spPr>
          <a:xfrm>
            <a:off x="6611111" y="1691639"/>
            <a:ext cx="219457" cy="1"/>
          </a:xfrm>
          <a:prstGeom prst="line">
            <a:avLst/>
          </a:prstGeom>
          <a:ln w="15875">
            <a:solidFill>
              <a:srgbClr val="6B767C"/>
            </a:solidFill>
            <a:tailEnd type="triangle"/>
          </a:ln>
        </p:spPr>
        <p:txBody>
          <a:bodyPr lIns="45719" rIns="45719"/>
          <a:lstStyle/>
          <a:p>
            <a:pPr/>
          </a:p>
        </p:txBody>
      </p:sp>
      <p:sp>
        <p:nvSpPr>
          <p:cNvPr id="255" name="Shape 15"/>
          <p:cNvSpPr/>
          <p:nvPr/>
        </p:nvSpPr>
        <p:spPr>
          <a:xfrm>
            <a:off x="6848856" y="1143000"/>
            <a:ext cx="1874521" cy="1097281"/>
          </a:xfrm>
          <a:prstGeom prst="rect">
            <a:avLst/>
          </a:prstGeom>
          <a:solidFill>
            <a:srgbClr val="1F2A30"/>
          </a:solidFill>
          <a:ln w="12700">
            <a:solidFill>
              <a:srgbClr val="1F2A30"/>
            </a:solidFill>
          </a:ln>
        </p:spPr>
        <p:txBody>
          <a:bodyPr lIns="45719" rIns="45719"/>
          <a:lstStyle/>
          <a:p>
            <a:pPr/>
          </a:p>
        </p:txBody>
      </p:sp>
      <p:sp>
        <p:nvSpPr>
          <p:cNvPr id="256" name="Text 16"/>
          <p:cNvSpPr txBox="1"/>
          <p:nvPr/>
        </p:nvSpPr>
        <p:spPr>
          <a:xfrm>
            <a:off x="6986016" y="1243583"/>
            <a:ext cx="16002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FFFFFF"/>
                </a:solidFill>
                <a:latin typeface="Cambria"/>
                <a:ea typeface="Cambria"/>
                <a:cs typeface="Cambria"/>
                <a:sym typeface="Cambria"/>
              </a:defRPr>
            </a:lvl1pPr>
          </a:lstStyle>
          <a:p>
            <a:pPr/>
            <a:r>
              <a:t>Réponse REST</a:t>
            </a:r>
          </a:p>
        </p:txBody>
      </p:sp>
      <p:sp>
        <p:nvSpPr>
          <p:cNvPr id="257" name="Text 17"/>
          <p:cNvSpPr txBox="1"/>
          <p:nvPr/>
        </p:nvSpPr>
        <p:spPr>
          <a:xfrm>
            <a:off x="6986016" y="1572767"/>
            <a:ext cx="1600201" cy="2993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FFFFFF"/>
                </a:solidFill>
              </a:defRPr>
            </a:lvl1pPr>
          </a:lstStyle>
          <a:p>
            <a:pPr/>
            <a:r>
              <a:t>HTTP 400 avec un message JSON</a:t>
            </a:r>
          </a:p>
        </p:txBody>
      </p:sp>
      <p:graphicFrame>
        <p:nvGraphicFramePr>
          <p:cNvPr id="258" name="Table 0"/>
          <p:cNvGraphicFramePr/>
          <p:nvPr/>
        </p:nvGraphicFramePr>
        <p:xfrm>
          <a:off x="457200" y="2514600"/>
          <a:ext cx="5486400" cy="164592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920240"/>
                <a:gridCol w="2834640"/>
                <a:gridCol w="731520"/>
              </a:tblGrid>
              <a:tr h="329184">
                <a:tc>
                  <a:txBody>
                    <a:bodyPr/>
                    <a:lstStyle/>
                    <a:p>
                      <a:pPr algn="l">
                        <a:defRPr sz="1800"/>
                      </a:pPr>
                      <a:r>
                        <a:rPr sz="1000">
                          <a:solidFill>
                            <a:srgbClr val="FFFFFF"/>
                          </a:solidFill>
                          <a:latin typeface="Cambria"/>
                          <a:ea typeface="Cambria"/>
                          <a:cs typeface="Cambria"/>
                          <a:sym typeface="Cambria"/>
                        </a:rPr>
                        <a:t>Cas métier</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2F5D50"/>
                    </a:solidFill>
                  </a:tcPr>
                </a:tc>
                <a:tc>
                  <a:txBody>
                    <a:bodyPr/>
                    <a:lstStyle/>
                    <a:p>
                      <a:pPr algn="l">
                        <a:defRPr sz="1800"/>
                      </a:pPr>
                      <a:r>
                        <a:rPr sz="1000">
                          <a:solidFill>
                            <a:srgbClr val="FFFFFF"/>
                          </a:solidFill>
                          <a:latin typeface="Cambria"/>
                          <a:ea typeface="Cambria"/>
                          <a:cs typeface="Cambria"/>
                          <a:sym typeface="Cambria"/>
                        </a:rPr>
                        <a:t>Exception métier</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2F5D50"/>
                    </a:solidFill>
                  </a:tcPr>
                </a:tc>
                <a:tc>
                  <a:txBody>
                    <a:bodyPr/>
                    <a:lstStyle/>
                    <a:p>
                      <a:pPr algn="ctr">
                        <a:defRPr sz="1800"/>
                      </a:pPr>
                      <a:r>
                        <a:rPr sz="1000">
                          <a:solidFill>
                            <a:srgbClr val="FFFFFF"/>
                          </a:solidFill>
                          <a:latin typeface="Cambria"/>
                          <a:ea typeface="Cambria"/>
                          <a:cs typeface="Cambria"/>
                          <a:sym typeface="Cambria"/>
                        </a:rPr>
                        <a:t>HTTP</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2F5D50"/>
                    </a:solidFill>
                  </a:tcPr>
                </a:tc>
              </a:tr>
              <a:tr h="329184">
                <a:tc>
                  <a:txBody>
                    <a:bodyPr/>
                    <a:lstStyle/>
                    <a:p>
                      <a:pPr algn="l">
                        <a:defRPr sz="1800"/>
                      </a:pPr>
                      <a:r>
                        <a:rPr sz="1000">
                          <a:solidFill>
                            <a:srgbClr val="22292D"/>
                          </a:solidFill>
                        </a:rPr>
                        <a:t>Solde insuffisant</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l">
                        <a:defRPr sz="1800"/>
                      </a:pPr>
                      <a:r>
                        <a:rPr sz="1000">
                          <a:solidFill>
                            <a:srgbClr val="22292D"/>
                          </a:solidFill>
                          <a:latin typeface="Courier New"/>
                          <a:ea typeface="Courier New"/>
                          <a:cs typeface="Courier New"/>
                          <a:sym typeface="Courier New"/>
                        </a:rPr>
                        <a:t>SoldeInsuffisantException</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ctr">
                        <a:defRPr sz="1800"/>
                      </a:pPr>
                      <a:r>
                        <a:rPr sz="1000">
                          <a:solidFill>
                            <a:srgbClr val="22292D"/>
                          </a:solidFill>
                        </a:rPr>
                        <a:t>400</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r>
              <a:tr h="329184">
                <a:tc>
                  <a:txBody>
                    <a:bodyPr/>
                    <a:lstStyle/>
                    <a:p>
                      <a:pPr algn="l">
                        <a:defRPr sz="1800"/>
                      </a:pPr>
                      <a:r>
                        <a:rPr sz="1000">
                          <a:solidFill>
                            <a:srgbClr val="22292D"/>
                          </a:solidFill>
                        </a:rPr>
                        <a:t>Montant invalide (≤ 0)</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l">
                        <a:defRPr sz="1800"/>
                      </a:pPr>
                      <a:r>
                        <a:rPr sz="1000">
                          <a:solidFill>
                            <a:srgbClr val="22292D"/>
                          </a:solidFill>
                          <a:latin typeface="Courier New"/>
                          <a:ea typeface="Courier New"/>
                          <a:cs typeface="Courier New"/>
                          <a:sym typeface="Courier New"/>
                        </a:rPr>
                        <a:t>MontantInvalideException</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ctr">
                        <a:defRPr sz="1800"/>
                      </a:pPr>
                      <a:r>
                        <a:rPr sz="1000">
                          <a:solidFill>
                            <a:srgbClr val="22292D"/>
                          </a:solidFill>
                        </a:rPr>
                        <a:t>400</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r>
              <a:tr h="329184">
                <a:tc>
                  <a:txBody>
                    <a:bodyPr/>
                    <a:lstStyle/>
                    <a:p>
                      <a:pPr algn="l">
                        <a:defRPr sz="1800"/>
                      </a:pPr>
                      <a:r>
                        <a:rPr sz="1000">
                          <a:solidFill>
                            <a:srgbClr val="22292D"/>
                          </a:solidFill>
                        </a:rPr>
                        <a:t>Compte inexistant</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l">
                        <a:defRPr sz="1800"/>
                      </a:pPr>
                      <a:r>
                        <a:rPr sz="1000">
                          <a:solidFill>
                            <a:srgbClr val="22292D"/>
                          </a:solidFill>
                          <a:latin typeface="Courier New"/>
                          <a:ea typeface="Courier New"/>
                          <a:cs typeface="Courier New"/>
                          <a:sym typeface="Courier New"/>
                        </a:rPr>
                        <a:t>CompteInexistantException</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ctr">
                        <a:defRPr sz="1800"/>
                      </a:pPr>
                      <a:r>
                        <a:rPr sz="1000">
                          <a:solidFill>
                            <a:srgbClr val="22292D"/>
                          </a:solidFill>
                        </a:rPr>
                        <a:t>404</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r>
              <a:tr h="329184">
                <a:tc>
                  <a:txBody>
                    <a:bodyPr/>
                    <a:lstStyle/>
                    <a:p>
                      <a:pPr algn="l">
                        <a:defRPr sz="1800"/>
                      </a:pPr>
                      <a:r>
                        <a:rPr sz="1000">
                          <a:solidFill>
                            <a:srgbClr val="22292D"/>
                          </a:solidFill>
                        </a:rPr>
                        <a:t>Compte bloqué</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l">
                        <a:defRPr sz="1800"/>
                      </a:pPr>
                      <a:r>
                        <a:rPr sz="1000">
                          <a:solidFill>
                            <a:srgbClr val="22292D"/>
                          </a:solidFill>
                          <a:latin typeface="Courier New"/>
                          <a:ea typeface="Courier New"/>
                          <a:cs typeface="Courier New"/>
                          <a:sym typeface="Courier New"/>
                        </a:rPr>
                        <a:t>CompteBloqueException</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ctr">
                        <a:defRPr sz="1800"/>
                      </a:pPr>
                      <a:r>
                        <a:rPr sz="1000">
                          <a:solidFill>
                            <a:srgbClr val="22292D"/>
                          </a:solidFill>
                        </a:rPr>
                        <a:t>409</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r>
            </a:tbl>
          </a:graphicData>
        </a:graphic>
      </p:graphicFrame>
      <p:sp>
        <p:nvSpPr>
          <p:cNvPr id="259" name="Shape 18"/>
          <p:cNvSpPr/>
          <p:nvPr/>
        </p:nvSpPr>
        <p:spPr>
          <a:xfrm>
            <a:off x="6217920" y="2514600"/>
            <a:ext cx="2468881" cy="1645921"/>
          </a:xfrm>
          <a:prstGeom prst="rect">
            <a:avLst/>
          </a:prstGeom>
          <a:solidFill>
            <a:srgbClr val="EAF2EF"/>
          </a:solidFill>
          <a:ln w="12700">
            <a:solidFill>
              <a:srgbClr val="EAF2EF"/>
            </a:solidFill>
          </a:ln>
        </p:spPr>
        <p:txBody>
          <a:bodyPr lIns="45719" rIns="45719"/>
          <a:lstStyle/>
          <a:p>
            <a:pPr/>
          </a:p>
        </p:txBody>
      </p:sp>
      <p:sp>
        <p:nvSpPr>
          <p:cNvPr id="260" name="Text 19"/>
          <p:cNvSpPr txBox="1"/>
          <p:nvPr/>
        </p:nvSpPr>
        <p:spPr>
          <a:xfrm>
            <a:off x="6355079" y="2624327"/>
            <a:ext cx="219456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1F2A30"/>
                </a:solidFill>
                <a:latin typeface="Cambria"/>
                <a:ea typeface="Cambria"/>
                <a:cs typeface="Cambria"/>
                <a:sym typeface="Cambria"/>
              </a:defRPr>
            </a:lvl1pPr>
          </a:lstStyle>
          <a:p>
            <a:pPr/>
            <a:r>
              <a:t>Entre deux services</a:t>
            </a:r>
          </a:p>
        </p:txBody>
      </p:sp>
      <p:sp>
        <p:nvSpPr>
          <p:cNvPr id="261" name="Text 20"/>
          <p:cNvSpPr txBox="1"/>
          <p:nvPr/>
        </p:nvSpPr>
        <p:spPr>
          <a:xfrm>
            <a:off x="6355079" y="2926079"/>
            <a:ext cx="2194561" cy="4644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2292D"/>
                </a:solidFill>
              </a:defRPr>
            </a:lvl1pPr>
          </a:lstStyle>
          <a:p>
            <a:pPr/>
            <a:r>
              <a:t>Le client HTTP du service Transaction traduit une erreur du service Compte en CompteServiceException.</a:t>
            </a:r>
          </a:p>
        </p:txBody>
      </p:sp>
      <p:sp>
        <p:nvSpPr>
          <p:cNvPr id="262" name="Slide Number Placeholder 0"/>
          <p:cNvSpPr txBox="1"/>
          <p:nvPr>
            <p:ph type="sldNum" sz="quarter" idx="4294967295"/>
          </p:nvPr>
        </p:nvSpPr>
        <p:spPr>
          <a:xfrm>
            <a:off x="8479670" y="4818888"/>
            <a:ext cx="207131" cy="19601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6" name="Text 0"/>
          <p:cNvSpPr txBox="1"/>
          <p:nvPr/>
        </p:nvSpPr>
        <p:spPr>
          <a:xfrm>
            <a:off x="457200" y="256031"/>
            <a:ext cx="3657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00" sz="900">
                <a:solidFill>
                  <a:srgbClr val="B8672E"/>
                </a:solidFill>
              </a:defRPr>
            </a:lvl1pPr>
          </a:lstStyle>
          <a:p>
            <a:pPr/>
            <a:r>
              <a:t>LA SOLUTION</a:t>
            </a:r>
          </a:p>
        </p:txBody>
      </p:sp>
      <p:sp>
        <p:nvSpPr>
          <p:cNvPr id="267" name="Text 1"/>
          <p:cNvSpPr txBox="1"/>
          <p:nvPr/>
        </p:nvSpPr>
        <p:spPr>
          <a:xfrm>
            <a:off x="457200" y="530859"/>
            <a:ext cx="822960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400">
                <a:solidFill>
                  <a:srgbClr val="1F2A30"/>
                </a:solidFill>
                <a:latin typeface="Cambria"/>
                <a:ea typeface="Cambria"/>
                <a:cs typeface="Cambria"/>
                <a:sym typeface="Cambria"/>
              </a:defRPr>
            </a:lvl1pPr>
          </a:lstStyle>
          <a:p>
            <a:pPr/>
            <a:r>
              <a:t>Stratégie de test</a:t>
            </a:r>
          </a:p>
        </p:txBody>
      </p:sp>
      <p:sp>
        <p:nvSpPr>
          <p:cNvPr id="268" name="Text 2"/>
          <p:cNvSpPr txBox="1"/>
          <p:nvPr/>
        </p:nvSpPr>
        <p:spPr>
          <a:xfrm>
            <a:off x="457200" y="4846320"/>
            <a:ext cx="64008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6B767C"/>
                </a:solidFill>
              </a:defRPr>
            </a:lvl1pPr>
          </a:lstStyle>
          <a:p>
            <a:pPr/>
            <a:r>
              <a:t>Application bancaire multi-services · Architecture hexagonale</a:t>
            </a:r>
          </a:p>
        </p:txBody>
      </p:sp>
      <p:sp>
        <p:nvSpPr>
          <p:cNvPr id="269" name="Text 3"/>
          <p:cNvSpPr txBox="1"/>
          <p:nvPr/>
        </p:nvSpPr>
        <p:spPr>
          <a:xfrm>
            <a:off x="457199" y="1097280"/>
            <a:ext cx="1463042" cy="800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5400">
                <a:solidFill>
                  <a:srgbClr val="1F2A30"/>
                </a:solidFill>
                <a:latin typeface="Cambria"/>
                <a:ea typeface="Cambria"/>
                <a:cs typeface="Cambria"/>
                <a:sym typeface="Cambria"/>
              </a:defRPr>
            </a:lvl1pPr>
          </a:lstStyle>
          <a:p>
            <a:pPr/>
            <a:r>
              <a:t>49</a:t>
            </a:r>
          </a:p>
        </p:txBody>
      </p:sp>
      <p:sp>
        <p:nvSpPr>
          <p:cNvPr id="270" name="Text 4"/>
          <p:cNvSpPr txBox="1"/>
          <p:nvPr/>
        </p:nvSpPr>
        <p:spPr>
          <a:xfrm>
            <a:off x="1920239" y="1280160"/>
            <a:ext cx="2194561" cy="3473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6B767C"/>
                </a:solidFill>
              </a:defRPr>
            </a:lvl1pPr>
          </a:lstStyle>
          <a:p>
            <a:pPr/>
            <a:r>
              <a:t>tests PHPUnit sur les quatre services métier</a:t>
            </a:r>
          </a:p>
        </p:txBody>
      </p:sp>
      <p:sp>
        <p:nvSpPr>
          <p:cNvPr id="271" name="Shape 5"/>
          <p:cNvSpPr/>
          <p:nvPr/>
        </p:nvSpPr>
        <p:spPr>
          <a:xfrm>
            <a:off x="457199" y="3840479"/>
            <a:ext cx="3749042" cy="731521"/>
          </a:xfrm>
          <a:prstGeom prst="rect">
            <a:avLst/>
          </a:prstGeom>
          <a:solidFill>
            <a:srgbClr val="15191C"/>
          </a:solidFill>
          <a:ln w="12700">
            <a:solidFill>
              <a:srgbClr val="15191C"/>
            </a:solidFill>
          </a:ln>
        </p:spPr>
        <p:txBody>
          <a:bodyPr lIns="45719" rIns="45719"/>
          <a:lstStyle/>
          <a:p>
            <a:pPr/>
          </a:p>
        </p:txBody>
      </p:sp>
      <p:sp>
        <p:nvSpPr>
          <p:cNvPr id="272" name="Text 6"/>
          <p:cNvSpPr txBox="1"/>
          <p:nvPr/>
        </p:nvSpPr>
        <p:spPr>
          <a:xfrm>
            <a:off x="594359" y="3931920"/>
            <a:ext cx="3474722" cy="2603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sz="900">
                <a:solidFill>
                  <a:srgbClr val="8A969C"/>
                </a:solidFill>
                <a:latin typeface="Courier New"/>
                <a:ea typeface="Courier New"/>
                <a:cs typeface="Courier New"/>
                <a:sym typeface="Courier New"/>
              </a:defRPr>
            </a:pPr>
            <a:r>
              <a:t>// Nommage explicite et Arrange / Act / Assert</a:t>
            </a:r>
          </a:p>
          <a:p>
            <a:pPr>
              <a:lnSpc>
                <a:spcPct val="104999"/>
              </a:lnSpc>
              <a:defRPr sz="900">
                <a:solidFill>
                  <a:srgbClr val="D7BA7D"/>
                </a:solidFill>
                <a:latin typeface="Courier New"/>
                <a:ea typeface="Courier New"/>
                <a:cs typeface="Courier New"/>
                <a:sym typeface="Courier New"/>
              </a:defRPr>
            </a:pPr>
            <a:r>
              <a:t>testRetirerArgentSoldeInsuffisantLeveException()</a:t>
            </a:r>
          </a:p>
        </p:txBody>
      </p:sp>
      <p:sp>
        <p:nvSpPr>
          <p:cNvPr id="273" name="Shape 7"/>
          <p:cNvSpPr/>
          <p:nvPr/>
        </p:nvSpPr>
        <p:spPr>
          <a:xfrm>
            <a:off x="4480559" y="1097280"/>
            <a:ext cx="4206241" cy="1024129"/>
          </a:xfrm>
          <a:prstGeom prst="rect">
            <a:avLst/>
          </a:prstGeom>
          <a:solidFill>
            <a:srgbClr val="EAF2EF"/>
          </a:solidFill>
          <a:ln w="12700">
            <a:solidFill>
              <a:srgbClr val="EAF2EF"/>
            </a:solidFill>
          </a:ln>
        </p:spPr>
        <p:txBody>
          <a:bodyPr lIns="45719" rIns="45719"/>
          <a:lstStyle/>
          <a:p>
            <a:pPr/>
          </a:p>
        </p:txBody>
      </p:sp>
      <p:sp>
        <p:nvSpPr>
          <p:cNvPr id="274" name="Text 8"/>
          <p:cNvSpPr txBox="1"/>
          <p:nvPr/>
        </p:nvSpPr>
        <p:spPr>
          <a:xfrm>
            <a:off x="4617720" y="1474063"/>
            <a:ext cx="54864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1F2A30"/>
                </a:solidFill>
                <a:latin typeface="Cambria"/>
                <a:ea typeface="Cambria"/>
                <a:cs typeface="Cambria"/>
                <a:sym typeface="Cambria"/>
              </a:defRPr>
            </a:lvl1pPr>
          </a:lstStyle>
          <a:p>
            <a:pPr/>
            <a:r>
              <a:t>1</a:t>
            </a:r>
          </a:p>
        </p:txBody>
      </p:sp>
      <p:sp>
        <p:nvSpPr>
          <p:cNvPr id="275" name="Text 9"/>
          <p:cNvSpPr txBox="1"/>
          <p:nvPr/>
        </p:nvSpPr>
        <p:spPr>
          <a:xfrm>
            <a:off x="5303520" y="1188719"/>
            <a:ext cx="201168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1F2A30"/>
                </a:solidFill>
                <a:latin typeface="Cambria"/>
                <a:ea typeface="Cambria"/>
                <a:cs typeface="Cambria"/>
                <a:sym typeface="Cambria"/>
              </a:defRPr>
            </a:lvl1pPr>
          </a:lstStyle>
          <a:p>
            <a:pPr/>
            <a:r>
              <a:t>Domaine</a:t>
            </a:r>
          </a:p>
        </p:txBody>
      </p:sp>
      <p:sp>
        <p:nvSpPr>
          <p:cNvPr id="276" name="Text 10"/>
          <p:cNvSpPr txBox="1"/>
          <p:nvPr/>
        </p:nvSpPr>
        <p:spPr>
          <a:xfrm>
            <a:off x="7132319" y="1207008"/>
            <a:ext cx="14630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800">
                <a:solidFill>
                  <a:srgbClr val="2F5D50"/>
                </a:solidFill>
                <a:latin typeface="Courier New"/>
                <a:ea typeface="Courier New"/>
                <a:cs typeface="Courier New"/>
                <a:sym typeface="Courier New"/>
              </a:defRPr>
            </a:lvl1pPr>
          </a:lstStyle>
          <a:p>
            <a:pPr/>
            <a:r>
              <a:t>tests/Domain</a:t>
            </a:r>
          </a:p>
        </p:txBody>
      </p:sp>
      <p:sp>
        <p:nvSpPr>
          <p:cNvPr id="277" name="Text 11"/>
          <p:cNvSpPr txBox="1"/>
          <p:nvPr/>
        </p:nvSpPr>
        <p:spPr>
          <a:xfrm>
            <a:off x="5303520" y="1508760"/>
            <a:ext cx="329184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2292D"/>
                </a:solidFill>
              </a:defRPr>
            </a:lvl1pPr>
          </a:lstStyle>
          <a:p>
            <a:pPr/>
            <a:r>
              <a:t>Règles métier pures en mémoire, sans framework ni base.</a:t>
            </a:r>
          </a:p>
        </p:txBody>
      </p:sp>
      <p:sp>
        <p:nvSpPr>
          <p:cNvPr id="278" name="Shape 12"/>
          <p:cNvSpPr/>
          <p:nvPr/>
        </p:nvSpPr>
        <p:spPr>
          <a:xfrm>
            <a:off x="4480559" y="2267711"/>
            <a:ext cx="4206241" cy="1024129"/>
          </a:xfrm>
          <a:prstGeom prst="rect">
            <a:avLst/>
          </a:prstGeom>
          <a:solidFill>
            <a:srgbClr val="EAF2EF"/>
          </a:solidFill>
          <a:ln w="12700">
            <a:solidFill>
              <a:srgbClr val="EAF2EF"/>
            </a:solidFill>
          </a:ln>
        </p:spPr>
        <p:txBody>
          <a:bodyPr lIns="45719" rIns="45719"/>
          <a:lstStyle/>
          <a:p>
            <a:pPr/>
          </a:p>
        </p:txBody>
      </p:sp>
      <p:sp>
        <p:nvSpPr>
          <p:cNvPr id="279" name="Text 13"/>
          <p:cNvSpPr txBox="1"/>
          <p:nvPr/>
        </p:nvSpPr>
        <p:spPr>
          <a:xfrm>
            <a:off x="4617720" y="2644495"/>
            <a:ext cx="54864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1F2A30"/>
                </a:solidFill>
                <a:latin typeface="Cambria"/>
                <a:ea typeface="Cambria"/>
                <a:cs typeface="Cambria"/>
                <a:sym typeface="Cambria"/>
              </a:defRPr>
            </a:lvl1pPr>
          </a:lstStyle>
          <a:p>
            <a:pPr/>
            <a:r>
              <a:t>2</a:t>
            </a:r>
          </a:p>
        </p:txBody>
      </p:sp>
      <p:sp>
        <p:nvSpPr>
          <p:cNvPr id="280" name="Text 14"/>
          <p:cNvSpPr txBox="1"/>
          <p:nvPr/>
        </p:nvSpPr>
        <p:spPr>
          <a:xfrm>
            <a:off x="5303520" y="2359151"/>
            <a:ext cx="201168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1F2A30"/>
                </a:solidFill>
                <a:latin typeface="Cambria"/>
                <a:ea typeface="Cambria"/>
                <a:cs typeface="Cambria"/>
                <a:sym typeface="Cambria"/>
              </a:defRPr>
            </a:lvl1pPr>
          </a:lstStyle>
          <a:p>
            <a:pPr/>
            <a:r>
              <a:t>Use cases</a:t>
            </a:r>
          </a:p>
        </p:txBody>
      </p:sp>
      <p:sp>
        <p:nvSpPr>
          <p:cNvPr id="281" name="Text 15"/>
          <p:cNvSpPr txBox="1"/>
          <p:nvPr/>
        </p:nvSpPr>
        <p:spPr>
          <a:xfrm>
            <a:off x="7132319" y="2377439"/>
            <a:ext cx="14630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800">
                <a:solidFill>
                  <a:srgbClr val="2F5D50"/>
                </a:solidFill>
                <a:latin typeface="Courier New"/>
                <a:ea typeface="Courier New"/>
                <a:cs typeface="Courier New"/>
                <a:sym typeface="Courier New"/>
              </a:defRPr>
            </a:lvl1pPr>
          </a:lstStyle>
          <a:p>
            <a:pPr/>
            <a:r>
              <a:t>tests/Application</a:t>
            </a:r>
          </a:p>
        </p:txBody>
      </p:sp>
      <p:sp>
        <p:nvSpPr>
          <p:cNvPr id="282" name="Text 16"/>
          <p:cNvSpPr txBox="1"/>
          <p:nvPr/>
        </p:nvSpPr>
        <p:spPr>
          <a:xfrm>
            <a:off x="5303520" y="2679192"/>
            <a:ext cx="3291841" cy="2993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2292D"/>
                </a:solidFill>
              </a:defRPr>
            </a:lvl1pPr>
          </a:lstStyle>
          <a:p>
            <a:pPr/>
            <a:r>
              <a:t>Ports de sortie remplacés par des mocks (objets factices). Cas nominaux, cas limites et erreurs.</a:t>
            </a:r>
          </a:p>
        </p:txBody>
      </p:sp>
      <p:sp>
        <p:nvSpPr>
          <p:cNvPr id="283" name="Shape 17"/>
          <p:cNvSpPr/>
          <p:nvPr/>
        </p:nvSpPr>
        <p:spPr>
          <a:xfrm>
            <a:off x="4480559" y="3438144"/>
            <a:ext cx="4206241" cy="1024129"/>
          </a:xfrm>
          <a:prstGeom prst="rect">
            <a:avLst/>
          </a:prstGeom>
          <a:solidFill>
            <a:srgbClr val="EAF2EF"/>
          </a:solidFill>
          <a:ln w="12700">
            <a:solidFill>
              <a:srgbClr val="EAF2EF"/>
            </a:solidFill>
          </a:ln>
        </p:spPr>
        <p:txBody>
          <a:bodyPr lIns="45719" rIns="45719"/>
          <a:lstStyle/>
          <a:p>
            <a:pPr/>
          </a:p>
        </p:txBody>
      </p:sp>
      <p:sp>
        <p:nvSpPr>
          <p:cNvPr id="284" name="Text 18"/>
          <p:cNvSpPr txBox="1"/>
          <p:nvPr/>
        </p:nvSpPr>
        <p:spPr>
          <a:xfrm>
            <a:off x="4617720" y="3814927"/>
            <a:ext cx="54864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1F2A30"/>
                </a:solidFill>
                <a:latin typeface="Cambria"/>
                <a:ea typeface="Cambria"/>
                <a:cs typeface="Cambria"/>
                <a:sym typeface="Cambria"/>
              </a:defRPr>
            </a:lvl1pPr>
          </a:lstStyle>
          <a:p>
            <a:pPr/>
            <a:r>
              <a:t>3</a:t>
            </a:r>
          </a:p>
        </p:txBody>
      </p:sp>
      <p:sp>
        <p:nvSpPr>
          <p:cNvPr id="285" name="Text 19"/>
          <p:cNvSpPr txBox="1"/>
          <p:nvPr/>
        </p:nvSpPr>
        <p:spPr>
          <a:xfrm>
            <a:off x="5303520" y="3529584"/>
            <a:ext cx="201168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1F2A30"/>
                </a:solidFill>
                <a:latin typeface="Cambria"/>
                <a:ea typeface="Cambria"/>
                <a:cs typeface="Cambria"/>
                <a:sym typeface="Cambria"/>
              </a:defRPr>
            </a:lvl1pPr>
          </a:lstStyle>
          <a:p>
            <a:pPr/>
            <a:r>
              <a:t>Intégration API</a:t>
            </a:r>
          </a:p>
        </p:txBody>
      </p:sp>
      <p:sp>
        <p:nvSpPr>
          <p:cNvPr id="286" name="Text 20"/>
          <p:cNvSpPr txBox="1"/>
          <p:nvPr/>
        </p:nvSpPr>
        <p:spPr>
          <a:xfrm>
            <a:off x="7132319" y="3547871"/>
            <a:ext cx="14630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800">
                <a:solidFill>
                  <a:srgbClr val="2F5D50"/>
                </a:solidFill>
                <a:latin typeface="Courier New"/>
                <a:ea typeface="Courier New"/>
                <a:cs typeface="Courier New"/>
                <a:sym typeface="Courier New"/>
              </a:defRPr>
            </a:lvl1pPr>
          </a:lstStyle>
          <a:p>
            <a:pPr/>
            <a:r>
              <a:t>tests/Integration</a:t>
            </a:r>
          </a:p>
        </p:txBody>
      </p:sp>
      <p:sp>
        <p:nvSpPr>
          <p:cNvPr id="287" name="Text 21"/>
          <p:cNvSpPr txBox="1"/>
          <p:nvPr/>
        </p:nvSpPr>
        <p:spPr>
          <a:xfrm>
            <a:off x="5303520" y="3849623"/>
            <a:ext cx="3291841" cy="2993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2292D"/>
                </a:solidFill>
              </a:defRPr>
            </a:lvl1pPr>
          </a:lstStyle>
          <a:p>
            <a:pPr/>
            <a:r>
              <a:t>Vraies requêtes envoyées au kernel Symfony jusqu'à MySQL.</a:t>
            </a:r>
          </a:p>
        </p:txBody>
      </p:sp>
      <p:sp>
        <p:nvSpPr>
          <p:cNvPr id="288" name="Slide Number Placeholder 0"/>
          <p:cNvSpPr txBox="1"/>
          <p:nvPr>
            <p:ph type="sldNum" sz="quarter" idx="4294967295"/>
          </p:nvPr>
        </p:nvSpPr>
        <p:spPr>
          <a:xfrm>
            <a:off x="8479670" y="4818888"/>
            <a:ext cx="207131" cy="19601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89" name="Capture d’écran 2026-10-02 à 06.32.38.png" descr="Capture d’écran 2026-10-02 à 06.32.38.png"/>
          <p:cNvPicPr>
            <a:picLocks noChangeAspect="1"/>
          </p:cNvPicPr>
          <p:nvPr/>
        </p:nvPicPr>
        <p:blipFill>
          <a:blip r:embed="rId3">
            <a:extLst/>
          </a:blip>
          <a:stretch>
            <a:fillRect/>
          </a:stretch>
        </p:blipFill>
        <p:spPr>
          <a:xfrm>
            <a:off x="358845" y="1984646"/>
            <a:ext cx="3167301" cy="1492363"/>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3" name="Text 0"/>
          <p:cNvSpPr txBox="1"/>
          <p:nvPr/>
        </p:nvSpPr>
        <p:spPr>
          <a:xfrm>
            <a:off x="457200" y="256031"/>
            <a:ext cx="3657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00" sz="900">
                <a:solidFill>
                  <a:srgbClr val="B8672E"/>
                </a:solidFill>
              </a:defRPr>
            </a:lvl1pPr>
          </a:lstStyle>
          <a:p>
            <a:pPr/>
            <a:r>
              <a:t>LA SOLUTION</a:t>
            </a:r>
          </a:p>
        </p:txBody>
      </p:sp>
      <p:sp>
        <p:nvSpPr>
          <p:cNvPr id="294" name="Text 1"/>
          <p:cNvSpPr txBox="1"/>
          <p:nvPr/>
        </p:nvSpPr>
        <p:spPr>
          <a:xfrm>
            <a:off x="457200" y="530859"/>
            <a:ext cx="822960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400">
                <a:solidFill>
                  <a:srgbClr val="1F2A30"/>
                </a:solidFill>
                <a:latin typeface="Cambria"/>
                <a:ea typeface="Cambria"/>
                <a:cs typeface="Cambria"/>
                <a:sym typeface="Cambria"/>
              </a:defRPr>
            </a:lvl1pPr>
          </a:lstStyle>
          <a:p>
            <a:pPr/>
            <a:r>
              <a:t>Les principes SOLID dans le projet</a:t>
            </a:r>
          </a:p>
        </p:txBody>
      </p:sp>
      <p:sp>
        <p:nvSpPr>
          <p:cNvPr id="295" name="Text 2"/>
          <p:cNvSpPr txBox="1"/>
          <p:nvPr/>
        </p:nvSpPr>
        <p:spPr>
          <a:xfrm>
            <a:off x="457200" y="4846320"/>
            <a:ext cx="64008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6B767C"/>
                </a:solidFill>
              </a:defRPr>
            </a:lvl1pPr>
          </a:lstStyle>
          <a:p>
            <a:pPr/>
            <a:r>
              <a:t>Application bancaire multi-services · Architecture hexagonale</a:t>
            </a:r>
          </a:p>
        </p:txBody>
      </p:sp>
      <p:sp>
        <p:nvSpPr>
          <p:cNvPr id="296" name="Shape 3"/>
          <p:cNvSpPr/>
          <p:nvPr/>
        </p:nvSpPr>
        <p:spPr>
          <a:xfrm>
            <a:off x="457200" y="1051560"/>
            <a:ext cx="8229600" cy="621793"/>
          </a:xfrm>
          <a:prstGeom prst="rect">
            <a:avLst/>
          </a:prstGeom>
          <a:solidFill>
            <a:srgbClr val="EAF2EF"/>
          </a:solidFill>
          <a:ln w="12700">
            <a:solidFill>
              <a:srgbClr val="EAF2EF"/>
            </a:solidFill>
          </a:ln>
        </p:spPr>
        <p:txBody>
          <a:bodyPr lIns="45719" rIns="45719"/>
          <a:lstStyle/>
          <a:p>
            <a:pPr/>
          </a:p>
        </p:txBody>
      </p:sp>
      <p:sp>
        <p:nvSpPr>
          <p:cNvPr id="297" name="Text 4"/>
          <p:cNvSpPr txBox="1"/>
          <p:nvPr/>
        </p:nvSpPr>
        <p:spPr>
          <a:xfrm>
            <a:off x="566927" y="1222522"/>
            <a:ext cx="566929"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1F2A30"/>
                </a:solidFill>
                <a:latin typeface="Cambria"/>
                <a:ea typeface="Cambria"/>
                <a:cs typeface="Cambria"/>
                <a:sym typeface="Cambria"/>
              </a:defRPr>
            </a:lvl1pPr>
          </a:lstStyle>
          <a:p>
            <a:pPr/>
            <a:r>
              <a:t>S</a:t>
            </a:r>
          </a:p>
        </p:txBody>
      </p:sp>
      <p:sp>
        <p:nvSpPr>
          <p:cNvPr id="298" name="Text 5"/>
          <p:cNvSpPr txBox="1"/>
          <p:nvPr/>
        </p:nvSpPr>
        <p:spPr>
          <a:xfrm>
            <a:off x="1280160" y="1106424"/>
            <a:ext cx="27432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1F2A30"/>
                </a:solidFill>
                <a:latin typeface="Cambria"/>
                <a:ea typeface="Cambria"/>
                <a:cs typeface="Cambria"/>
                <a:sym typeface="Cambria"/>
              </a:defRPr>
            </a:lvl1pPr>
          </a:lstStyle>
          <a:p>
            <a:pPr/>
            <a:r>
              <a:t>Responsabilité unique</a:t>
            </a:r>
          </a:p>
        </p:txBody>
      </p:sp>
      <p:sp>
        <p:nvSpPr>
          <p:cNvPr id="299" name="Text 6"/>
          <p:cNvSpPr txBox="1"/>
          <p:nvPr/>
        </p:nvSpPr>
        <p:spPr>
          <a:xfrm>
            <a:off x="1280160" y="1371600"/>
            <a:ext cx="530352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22292D"/>
                </a:solidFill>
              </a:defRPr>
            </a:lvl1pPr>
          </a:lstStyle>
          <a:p>
            <a:pPr/>
            <a:r>
              <a:t>Chaque use case réalise une seule opération et chaque service couvre un seul domaine.</a:t>
            </a:r>
          </a:p>
        </p:txBody>
      </p:sp>
      <p:sp>
        <p:nvSpPr>
          <p:cNvPr id="300" name="Text 7"/>
          <p:cNvSpPr txBox="1"/>
          <p:nvPr/>
        </p:nvSpPr>
        <p:spPr>
          <a:xfrm>
            <a:off x="6400800" y="1124711"/>
            <a:ext cx="21945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800">
                <a:solidFill>
                  <a:srgbClr val="2F5D50"/>
                </a:solidFill>
                <a:latin typeface="Courier New"/>
                <a:ea typeface="Courier New"/>
                <a:cs typeface="Courier New"/>
                <a:sym typeface="Courier New"/>
              </a:defRPr>
            </a:lvl1pPr>
          </a:lstStyle>
          <a:p>
            <a:pPr/>
            <a:r>
              <a:t>RetirerArgentUseCase</a:t>
            </a:r>
          </a:p>
        </p:txBody>
      </p:sp>
      <p:sp>
        <p:nvSpPr>
          <p:cNvPr id="301" name="Shape 8"/>
          <p:cNvSpPr/>
          <p:nvPr/>
        </p:nvSpPr>
        <p:spPr>
          <a:xfrm>
            <a:off x="457200" y="1764792"/>
            <a:ext cx="8229600" cy="621793"/>
          </a:xfrm>
          <a:prstGeom prst="rect">
            <a:avLst/>
          </a:prstGeom>
          <a:solidFill>
            <a:srgbClr val="EAF2EF"/>
          </a:solidFill>
          <a:ln w="12700">
            <a:solidFill>
              <a:srgbClr val="EAF2EF"/>
            </a:solidFill>
          </a:ln>
        </p:spPr>
        <p:txBody>
          <a:bodyPr lIns="45719" rIns="45719"/>
          <a:lstStyle/>
          <a:p>
            <a:pPr/>
          </a:p>
        </p:txBody>
      </p:sp>
      <p:sp>
        <p:nvSpPr>
          <p:cNvPr id="302" name="Text 9"/>
          <p:cNvSpPr txBox="1"/>
          <p:nvPr/>
        </p:nvSpPr>
        <p:spPr>
          <a:xfrm>
            <a:off x="566927" y="1935754"/>
            <a:ext cx="566929"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1F2A30"/>
                </a:solidFill>
                <a:latin typeface="Cambria"/>
                <a:ea typeface="Cambria"/>
                <a:cs typeface="Cambria"/>
                <a:sym typeface="Cambria"/>
              </a:defRPr>
            </a:lvl1pPr>
          </a:lstStyle>
          <a:p>
            <a:pPr/>
            <a:r>
              <a:t>O</a:t>
            </a:r>
          </a:p>
        </p:txBody>
      </p:sp>
      <p:sp>
        <p:nvSpPr>
          <p:cNvPr id="303" name="Text 10"/>
          <p:cNvSpPr txBox="1"/>
          <p:nvPr/>
        </p:nvSpPr>
        <p:spPr>
          <a:xfrm>
            <a:off x="1280160" y="1819655"/>
            <a:ext cx="27432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1F2A30"/>
                </a:solidFill>
                <a:latin typeface="Cambria"/>
                <a:ea typeface="Cambria"/>
                <a:cs typeface="Cambria"/>
                <a:sym typeface="Cambria"/>
              </a:defRPr>
            </a:lvl1pPr>
          </a:lstStyle>
          <a:p>
            <a:pPr/>
            <a:r>
              <a:t>Ouvert / fermé</a:t>
            </a:r>
          </a:p>
        </p:txBody>
      </p:sp>
      <p:sp>
        <p:nvSpPr>
          <p:cNvPr id="304" name="Text 11"/>
          <p:cNvSpPr txBox="1"/>
          <p:nvPr/>
        </p:nvSpPr>
        <p:spPr>
          <a:xfrm>
            <a:off x="1280160" y="2084832"/>
            <a:ext cx="530352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22292D"/>
                </a:solidFill>
              </a:defRPr>
            </a:lvl1pPr>
          </a:lstStyle>
          <a:p>
            <a:pPr/>
            <a:r>
              <a:t>Un nouveau stockage s'ajoute par un nouvel adaptateur sans modifier les use cases.</a:t>
            </a:r>
          </a:p>
        </p:txBody>
      </p:sp>
      <p:sp>
        <p:nvSpPr>
          <p:cNvPr id="305" name="Text 12"/>
          <p:cNvSpPr txBox="1"/>
          <p:nvPr/>
        </p:nvSpPr>
        <p:spPr>
          <a:xfrm>
            <a:off x="6400800" y="1837944"/>
            <a:ext cx="21945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800">
                <a:solidFill>
                  <a:srgbClr val="2F5D50"/>
                </a:solidFill>
                <a:latin typeface="Courier New"/>
                <a:ea typeface="Courier New"/>
                <a:cs typeface="Courier New"/>
                <a:sym typeface="Courier New"/>
              </a:defRPr>
            </a:lvl1pPr>
          </a:lstStyle>
          <a:p>
            <a:pPr/>
            <a:r>
              <a:t>InMemoryCompteRepository</a:t>
            </a:r>
          </a:p>
        </p:txBody>
      </p:sp>
      <p:sp>
        <p:nvSpPr>
          <p:cNvPr id="306" name="Shape 13"/>
          <p:cNvSpPr/>
          <p:nvPr/>
        </p:nvSpPr>
        <p:spPr>
          <a:xfrm>
            <a:off x="457200" y="2478023"/>
            <a:ext cx="8229600" cy="621793"/>
          </a:xfrm>
          <a:prstGeom prst="rect">
            <a:avLst/>
          </a:prstGeom>
          <a:solidFill>
            <a:srgbClr val="EAF2EF"/>
          </a:solidFill>
          <a:ln w="12700">
            <a:solidFill>
              <a:srgbClr val="EAF2EF"/>
            </a:solidFill>
          </a:ln>
        </p:spPr>
        <p:txBody>
          <a:bodyPr lIns="45719" rIns="45719"/>
          <a:lstStyle/>
          <a:p>
            <a:pPr/>
          </a:p>
        </p:txBody>
      </p:sp>
      <p:sp>
        <p:nvSpPr>
          <p:cNvPr id="307" name="Text 14"/>
          <p:cNvSpPr txBox="1"/>
          <p:nvPr/>
        </p:nvSpPr>
        <p:spPr>
          <a:xfrm>
            <a:off x="566927" y="2648986"/>
            <a:ext cx="566929"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1F2A30"/>
                </a:solidFill>
                <a:latin typeface="Cambria"/>
                <a:ea typeface="Cambria"/>
                <a:cs typeface="Cambria"/>
                <a:sym typeface="Cambria"/>
              </a:defRPr>
            </a:lvl1pPr>
          </a:lstStyle>
          <a:p>
            <a:pPr/>
            <a:r>
              <a:t>L</a:t>
            </a:r>
          </a:p>
        </p:txBody>
      </p:sp>
      <p:sp>
        <p:nvSpPr>
          <p:cNvPr id="308" name="Text 15"/>
          <p:cNvSpPr txBox="1"/>
          <p:nvPr/>
        </p:nvSpPr>
        <p:spPr>
          <a:xfrm>
            <a:off x="1280160" y="2532888"/>
            <a:ext cx="27432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1F2A30"/>
                </a:solidFill>
                <a:latin typeface="Cambria"/>
                <a:ea typeface="Cambria"/>
                <a:cs typeface="Cambria"/>
                <a:sym typeface="Cambria"/>
              </a:defRPr>
            </a:lvl1pPr>
          </a:lstStyle>
          <a:p>
            <a:pPr/>
            <a:r>
              <a:t>Substitution de Liskov</a:t>
            </a:r>
          </a:p>
        </p:txBody>
      </p:sp>
      <p:sp>
        <p:nvSpPr>
          <p:cNvPr id="309" name="Text 16"/>
          <p:cNvSpPr txBox="1"/>
          <p:nvPr/>
        </p:nvSpPr>
        <p:spPr>
          <a:xfrm>
            <a:off x="1280160" y="2798064"/>
            <a:ext cx="530352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22292D"/>
                </a:solidFill>
              </a:defRPr>
            </a:lvl1pPr>
          </a:lstStyle>
          <a:p>
            <a:pPr/>
            <a:r>
              <a:t>Les deux adaptateurs de persistance sont interchangeables derrière le même port.</a:t>
            </a:r>
          </a:p>
        </p:txBody>
      </p:sp>
      <p:sp>
        <p:nvSpPr>
          <p:cNvPr id="310" name="Text 17"/>
          <p:cNvSpPr txBox="1"/>
          <p:nvPr/>
        </p:nvSpPr>
        <p:spPr>
          <a:xfrm>
            <a:off x="6400800" y="2551176"/>
            <a:ext cx="21945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800">
                <a:solidFill>
                  <a:srgbClr val="2F5D50"/>
                </a:solidFill>
                <a:latin typeface="Courier New"/>
                <a:ea typeface="Courier New"/>
                <a:cs typeface="Courier New"/>
                <a:sym typeface="Courier New"/>
              </a:defRPr>
            </a:lvl1pPr>
          </a:lstStyle>
          <a:p>
            <a:pPr/>
            <a:r>
              <a:t>CompteRepositoryInterface</a:t>
            </a:r>
          </a:p>
        </p:txBody>
      </p:sp>
      <p:sp>
        <p:nvSpPr>
          <p:cNvPr id="311" name="Shape 18"/>
          <p:cNvSpPr/>
          <p:nvPr/>
        </p:nvSpPr>
        <p:spPr>
          <a:xfrm>
            <a:off x="457200" y="3191255"/>
            <a:ext cx="8229600" cy="621793"/>
          </a:xfrm>
          <a:prstGeom prst="rect">
            <a:avLst/>
          </a:prstGeom>
          <a:solidFill>
            <a:srgbClr val="EAF2EF"/>
          </a:solidFill>
          <a:ln w="12700">
            <a:solidFill>
              <a:srgbClr val="EAF2EF"/>
            </a:solidFill>
          </a:ln>
        </p:spPr>
        <p:txBody>
          <a:bodyPr lIns="45719" rIns="45719"/>
          <a:lstStyle/>
          <a:p>
            <a:pPr/>
          </a:p>
        </p:txBody>
      </p:sp>
      <p:sp>
        <p:nvSpPr>
          <p:cNvPr id="312" name="Text 19"/>
          <p:cNvSpPr txBox="1"/>
          <p:nvPr/>
        </p:nvSpPr>
        <p:spPr>
          <a:xfrm>
            <a:off x="566927" y="3362218"/>
            <a:ext cx="566929"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1F2A30"/>
                </a:solidFill>
                <a:latin typeface="Cambria"/>
                <a:ea typeface="Cambria"/>
                <a:cs typeface="Cambria"/>
                <a:sym typeface="Cambria"/>
              </a:defRPr>
            </a:lvl1pPr>
          </a:lstStyle>
          <a:p>
            <a:pPr/>
            <a:r>
              <a:t>I</a:t>
            </a:r>
          </a:p>
        </p:txBody>
      </p:sp>
      <p:sp>
        <p:nvSpPr>
          <p:cNvPr id="313" name="Text 20"/>
          <p:cNvSpPr txBox="1"/>
          <p:nvPr/>
        </p:nvSpPr>
        <p:spPr>
          <a:xfrm>
            <a:off x="1280160" y="3246120"/>
            <a:ext cx="27432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1F2A30"/>
                </a:solidFill>
                <a:latin typeface="Cambria"/>
                <a:ea typeface="Cambria"/>
                <a:cs typeface="Cambria"/>
                <a:sym typeface="Cambria"/>
              </a:defRPr>
            </a:lvl1pPr>
          </a:lstStyle>
          <a:p>
            <a:pPr/>
            <a:r>
              <a:t>Séparation des interfaces</a:t>
            </a:r>
          </a:p>
        </p:txBody>
      </p:sp>
      <p:sp>
        <p:nvSpPr>
          <p:cNvPr id="314" name="Text 21"/>
          <p:cNvSpPr txBox="1"/>
          <p:nvPr/>
        </p:nvSpPr>
        <p:spPr>
          <a:xfrm>
            <a:off x="1280160" y="3511296"/>
            <a:ext cx="530352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22292D"/>
                </a:solidFill>
              </a:defRPr>
            </a:lvl1pPr>
          </a:lstStyle>
          <a:p>
            <a:pPr/>
            <a:r>
              <a:t>Les ports sont courts et ciblés, avec deux méthodes pour le client du service Compte.</a:t>
            </a:r>
          </a:p>
        </p:txBody>
      </p:sp>
      <p:sp>
        <p:nvSpPr>
          <p:cNvPr id="315" name="Text 22"/>
          <p:cNvSpPr txBox="1"/>
          <p:nvPr/>
        </p:nvSpPr>
        <p:spPr>
          <a:xfrm>
            <a:off x="6400800" y="3264408"/>
            <a:ext cx="21945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800">
                <a:solidFill>
                  <a:srgbClr val="2F5D50"/>
                </a:solidFill>
                <a:latin typeface="Courier New"/>
                <a:ea typeface="Courier New"/>
                <a:cs typeface="Courier New"/>
                <a:sym typeface="Courier New"/>
              </a:defRPr>
            </a:lvl1pPr>
          </a:lstStyle>
          <a:p>
            <a:pPr/>
            <a:r>
              <a:t>CompteServiceClientInterface</a:t>
            </a:r>
          </a:p>
        </p:txBody>
      </p:sp>
      <p:sp>
        <p:nvSpPr>
          <p:cNvPr id="316" name="Shape 23"/>
          <p:cNvSpPr/>
          <p:nvPr/>
        </p:nvSpPr>
        <p:spPr>
          <a:xfrm>
            <a:off x="457200" y="3904488"/>
            <a:ext cx="8229600" cy="621793"/>
          </a:xfrm>
          <a:prstGeom prst="rect">
            <a:avLst/>
          </a:prstGeom>
          <a:solidFill>
            <a:srgbClr val="EAF2EF"/>
          </a:solidFill>
          <a:ln w="12700">
            <a:solidFill>
              <a:srgbClr val="EAF2EF"/>
            </a:solidFill>
          </a:ln>
        </p:spPr>
        <p:txBody>
          <a:bodyPr lIns="45719" rIns="45719"/>
          <a:lstStyle/>
          <a:p>
            <a:pPr/>
          </a:p>
        </p:txBody>
      </p:sp>
      <p:sp>
        <p:nvSpPr>
          <p:cNvPr id="317" name="Text 24"/>
          <p:cNvSpPr txBox="1"/>
          <p:nvPr/>
        </p:nvSpPr>
        <p:spPr>
          <a:xfrm>
            <a:off x="566927" y="4075450"/>
            <a:ext cx="566929"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1F2A30"/>
                </a:solidFill>
                <a:latin typeface="Cambria"/>
                <a:ea typeface="Cambria"/>
                <a:cs typeface="Cambria"/>
                <a:sym typeface="Cambria"/>
              </a:defRPr>
            </a:lvl1pPr>
          </a:lstStyle>
          <a:p>
            <a:pPr/>
            <a:r>
              <a:t>D</a:t>
            </a:r>
          </a:p>
        </p:txBody>
      </p:sp>
      <p:sp>
        <p:nvSpPr>
          <p:cNvPr id="318" name="Text 25"/>
          <p:cNvSpPr txBox="1"/>
          <p:nvPr/>
        </p:nvSpPr>
        <p:spPr>
          <a:xfrm>
            <a:off x="1280160" y="3959352"/>
            <a:ext cx="27432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1F2A30"/>
                </a:solidFill>
                <a:latin typeface="Cambria"/>
                <a:ea typeface="Cambria"/>
                <a:cs typeface="Cambria"/>
                <a:sym typeface="Cambria"/>
              </a:defRPr>
            </a:lvl1pPr>
          </a:lstStyle>
          <a:p>
            <a:pPr/>
            <a:r>
              <a:t>Inversion des dépendances</a:t>
            </a:r>
          </a:p>
        </p:txBody>
      </p:sp>
      <p:sp>
        <p:nvSpPr>
          <p:cNvPr id="319" name="Text 26"/>
          <p:cNvSpPr txBox="1"/>
          <p:nvPr/>
        </p:nvSpPr>
        <p:spPr>
          <a:xfrm>
            <a:off x="1280160" y="4224528"/>
            <a:ext cx="530352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22292D"/>
                </a:solidFill>
              </a:defRPr>
            </a:lvl1pPr>
          </a:lstStyle>
          <a:p>
            <a:pPr/>
            <a:r>
              <a:t>Les use cases dépendent d'interfaces et le conteneur injecte les implémentations.</a:t>
            </a:r>
          </a:p>
        </p:txBody>
      </p:sp>
      <p:sp>
        <p:nvSpPr>
          <p:cNvPr id="320" name="Text 27"/>
          <p:cNvSpPr txBox="1"/>
          <p:nvPr/>
        </p:nvSpPr>
        <p:spPr>
          <a:xfrm>
            <a:off x="6400800" y="3977640"/>
            <a:ext cx="21945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800">
                <a:solidFill>
                  <a:srgbClr val="2F5D50"/>
                </a:solidFill>
                <a:latin typeface="Courier New"/>
                <a:ea typeface="Courier New"/>
                <a:cs typeface="Courier New"/>
                <a:sym typeface="Courier New"/>
              </a:defRPr>
            </a:lvl1pPr>
          </a:lstStyle>
          <a:p>
            <a:pPr/>
            <a:r>
              <a:t>services.yaml</a:t>
            </a:r>
          </a:p>
        </p:txBody>
      </p:sp>
      <p:sp>
        <p:nvSpPr>
          <p:cNvPr id="321" name="Slide Number Placeholder 0"/>
          <p:cNvSpPr txBox="1"/>
          <p:nvPr>
            <p:ph type="sldNum" sz="quarter" idx="4294967295"/>
          </p:nvPr>
        </p:nvSpPr>
        <p:spPr>
          <a:xfrm>
            <a:off x="8479670" y="4818888"/>
            <a:ext cx="207131" cy="19601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5" name="Text 0"/>
          <p:cNvSpPr txBox="1"/>
          <p:nvPr/>
        </p:nvSpPr>
        <p:spPr>
          <a:xfrm>
            <a:off x="457200" y="256031"/>
            <a:ext cx="3657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00" sz="900">
                <a:solidFill>
                  <a:srgbClr val="B8672E"/>
                </a:solidFill>
              </a:defRPr>
            </a:lvl1pPr>
          </a:lstStyle>
          <a:p>
            <a:pPr/>
            <a:r>
              <a:t>LA SOLUTION</a:t>
            </a:r>
          </a:p>
        </p:txBody>
      </p:sp>
      <p:sp>
        <p:nvSpPr>
          <p:cNvPr id="326" name="Text 1"/>
          <p:cNvSpPr txBox="1"/>
          <p:nvPr/>
        </p:nvSpPr>
        <p:spPr>
          <a:xfrm>
            <a:off x="457200" y="530859"/>
            <a:ext cx="822960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400">
                <a:solidFill>
                  <a:srgbClr val="1F2A30"/>
                </a:solidFill>
                <a:latin typeface="Cambria"/>
                <a:ea typeface="Cambria"/>
                <a:cs typeface="Cambria"/>
                <a:sym typeface="Cambria"/>
              </a:defRPr>
            </a:lvl1pPr>
          </a:lstStyle>
          <a:p>
            <a:pPr/>
            <a:r>
              <a:t>Les adaptateurs IN et OUT</a:t>
            </a:r>
          </a:p>
        </p:txBody>
      </p:sp>
      <p:sp>
        <p:nvSpPr>
          <p:cNvPr id="327" name="Text 2"/>
          <p:cNvSpPr txBox="1"/>
          <p:nvPr/>
        </p:nvSpPr>
        <p:spPr>
          <a:xfrm>
            <a:off x="457200" y="4846320"/>
            <a:ext cx="64008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6B767C"/>
                </a:solidFill>
              </a:defRPr>
            </a:lvl1pPr>
          </a:lstStyle>
          <a:p>
            <a:pPr/>
            <a:r>
              <a:t>Application bancaire multi-services · Architecture hexagonale</a:t>
            </a:r>
          </a:p>
        </p:txBody>
      </p:sp>
      <p:sp>
        <p:nvSpPr>
          <p:cNvPr id="328" name="Text 3"/>
          <p:cNvSpPr txBox="1"/>
          <p:nvPr/>
        </p:nvSpPr>
        <p:spPr>
          <a:xfrm>
            <a:off x="457199" y="1051560"/>
            <a:ext cx="3017522"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2F5D50"/>
                </a:solidFill>
                <a:latin typeface="Cambria"/>
                <a:ea typeface="Cambria"/>
                <a:cs typeface="Cambria"/>
                <a:sym typeface="Cambria"/>
              </a:defRPr>
            </a:lvl1pPr>
          </a:lstStyle>
          <a:p>
            <a:pPr/>
            <a:r>
              <a:t>Adaptateurs IN</a:t>
            </a:r>
          </a:p>
        </p:txBody>
      </p:sp>
      <p:sp>
        <p:nvSpPr>
          <p:cNvPr id="329" name="Text 4"/>
          <p:cNvSpPr txBox="1"/>
          <p:nvPr/>
        </p:nvSpPr>
        <p:spPr>
          <a:xfrm>
            <a:off x="457199" y="1325880"/>
            <a:ext cx="3017522" cy="3021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B767C"/>
                </a:solidFill>
              </a:defRPr>
            </a:lvl1pPr>
          </a:lstStyle>
          <a:p>
            <a:pPr/>
            <a:r>
              <a:t>Ils reçoivent ce qui vient de l'extérieur et déclenchent un use case.</a:t>
            </a:r>
          </a:p>
        </p:txBody>
      </p:sp>
      <p:sp>
        <p:nvSpPr>
          <p:cNvPr id="330" name="Shape 5"/>
          <p:cNvSpPr/>
          <p:nvPr/>
        </p:nvSpPr>
        <p:spPr>
          <a:xfrm>
            <a:off x="457199" y="1828800"/>
            <a:ext cx="3017522" cy="1234441"/>
          </a:xfrm>
          <a:prstGeom prst="rect">
            <a:avLst/>
          </a:prstGeom>
          <a:solidFill>
            <a:srgbClr val="EAF2EF"/>
          </a:solidFill>
          <a:ln w="12700">
            <a:solidFill>
              <a:srgbClr val="EAF2EF"/>
            </a:solidFill>
          </a:ln>
        </p:spPr>
        <p:txBody>
          <a:bodyPr lIns="45719" rIns="45719"/>
          <a:lstStyle/>
          <a:p>
            <a:pPr/>
          </a:p>
        </p:txBody>
      </p:sp>
      <p:sp>
        <p:nvSpPr>
          <p:cNvPr id="331" name="Text 6"/>
          <p:cNvSpPr txBox="1"/>
          <p:nvPr/>
        </p:nvSpPr>
        <p:spPr>
          <a:xfrm>
            <a:off x="594359" y="1920239"/>
            <a:ext cx="27432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1F2A30"/>
                </a:solidFill>
                <a:latin typeface="Cambria"/>
                <a:ea typeface="Cambria"/>
                <a:cs typeface="Cambria"/>
                <a:sym typeface="Cambria"/>
              </a:defRPr>
            </a:lvl1pPr>
          </a:lstStyle>
          <a:p>
            <a:pPr/>
            <a:r>
              <a:t>Contrôleurs REST</a:t>
            </a:r>
          </a:p>
        </p:txBody>
      </p:sp>
      <p:sp>
        <p:nvSpPr>
          <p:cNvPr id="332" name="Text 7"/>
          <p:cNvSpPr txBox="1"/>
          <p:nvPr/>
        </p:nvSpPr>
        <p:spPr>
          <a:xfrm>
            <a:off x="594359" y="2194560"/>
            <a:ext cx="2743201"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2F5D50"/>
                </a:solidFill>
                <a:latin typeface="Courier New"/>
                <a:ea typeface="Courier New"/>
                <a:cs typeface="Courier New"/>
                <a:sym typeface="Courier New"/>
              </a:defRPr>
            </a:lvl1pPr>
          </a:lstStyle>
          <a:p>
            <a:pPr/>
            <a:r>
              <a:t>CompteController, ClientController, TransactionController, AuthController</a:t>
            </a:r>
          </a:p>
        </p:txBody>
      </p:sp>
      <p:sp>
        <p:nvSpPr>
          <p:cNvPr id="333" name="Text 8"/>
          <p:cNvSpPr txBox="1"/>
          <p:nvPr/>
        </p:nvSpPr>
        <p:spPr>
          <a:xfrm>
            <a:off x="594359" y="2633472"/>
            <a:ext cx="2743201" cy="3021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22292D"/>
                </a:solidFill>
              </a:defRPr>
            </a:lvl1pPr>
          </a:lstStyle>
          <a:p>
            <a:pPr/>
            <a:r>
              <a:t>Lisent la requête, appellent le use case et renvoient un DTO.</a:t>
            </a:r>
          </a:p>
        </p:txBody>
      </p:sp>
      <p:sp>
        <p:nvSpPr>
          <p:cNvPr id="334" name="Shape 9"/>
          <p:cNvSpPr/>
          <p:nvPr/>
        </p:nvSpPr>
        <p:spPr>
          <a:xfrm>
            <a:off x="457199" y="3200400"/>
            <a:ext cx="3017522" cy="1234441"/>
          </a:xfrm>
          <a:prstGeom prst="rect">
            <a:avLst/>
          </a:prstGeom>
          <a:solidFill>
            <a:srgbClr val="EAF2EF"/>
          </a:solidFill>
          <a:ln w="12700">
            <a:solidFill>
              <a:srgbClr val="EAF2EF"/>
            </a:solidFill>
          </a:ln>
        </p:spPr>
        <p:txBody>
          <a:bodyPr lIns="45719" rIns="45719"/>
          <a:lstStyle/>
          <a:p>
            <a:pPr/>
          </a:p>
        </p:txBody>
      </p:sp>
      <p:sp>
        <p:nvSpPr>
          <p:cNvPr id="335" name="Text 10"/>
          <p:cNvSpPr txBox="1"/>
          <p:nvPr/>
        </p:nvSpPr>
        <p:spPr>
          <a:xfrm>
            <a:off x="594359" y="3291840"/>
            <a:ext cx="27432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1F2A30"/>
                </a:solidFill>
                <a:latin typeface="Cambria"/>
                <a:ea typeface="Cambria"/>
                <a:cs typeface="Cambria"/>
                <a:sym typeface="Cambria"/>
              </a:defRPr>
            </a:lvl1pPr>
          </a:lstStyle>
          <a:p>
            <a:pPr/>
            <a:r>
              <a:t>Handler global</a:t>
            </a:r>
          </a:p>
        </p:txBody>
      </p:sp>
      <p:sp>
        <p:nvSpPr>
          <p:cNvPr id="336" name="Text 11"/>
          <p:cNvSpPr txBox="1"/>
          <p:nvPr/>
        </p:nvSpPr>
        <p:spPr>
          <a:xfrm>
            <a:off x="594359" y="3566159"/>
            <a:ext cx="2743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2F5D50"/>
                </a:solidFill>
                <a:latin typeface="Courier New"/>
                <a:ea typeface="Courier New"/>
                <a:cs typeface="Courier New"/>
                <a:sym typeface="Courier New"/>
              </a:defRPr>
            </a:lvl1pPr>
          </a:lstStyle>
          <a:p>
            <a:pPr/>
            <a:r>
              <a:t>GlobalExceptionHandler</a:t>
            </a:r>
          </a:p>
        </p:txBody>
      </p:sp>
      <p:sp>
        <p:nvSpPr>
          <p:cNvPr id="337" name="Text 12"/>
          <p:cNvSpPr txBox="1"/>
          <p:nvPr/>
        </p:nvSpPr>
        <p:spPr>
          <a:xfrm>
            <a:off x="594359" y="4005071"/>
            <a:ext cx="27432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22292D"/>
                </a:solidFill>
              </a:defRPr>
            </a:lvl1pPr>
          </a:lstStyle>
          <a:p>
            <a:pPr/>
            <a:r>
              <a:t>Transforme les exceptions métier en réponses HTTP.</a:t>
            </a:r>
          </a:p>
        </p:txBody>
      </p:sp>
      <p:sp>
        <p:nvSpPr>
          <p:cNvPr id="338" name="Text 13"/>
          <p:cNvSpPr txBox="1"/>
          <p:nvPr/>
        </p:nvSpPr>
        <p:spPr>
          <a:xfrm>
            <a:off x="3840479" y="1051560"/>
            <a:ext cx="484632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B8672E"/>
                </a:solidFill>
                <a:latin typeface="Cambria"/>
                <a:ea typeface="Cambria"/>
                <a:cs typeface="Cambria"/>
                <a:sym typeface="Cambria"/>
              </a:defRPr>
            </a:lvl1pPr>
          </a:lstStyle>
          <a:p>
            <a:pPr/>
            <a:r>
              <a:t>Adaptateurs OUT</a:t>
            </a:r>
          </a:p>
        </p:txBody>
      </p:sp>
      <p:sp>
        <p:nvSpPr>
          <p:cNvPr id="339" name="Text 14"/>
          <p:cNvSpPr txBox="1"/>
          <p:nvPr/>
        </p:nvSpPr>
        <p:spPr>
          <a:xfrm>
            <a:off x="3840479" y="1325880"/>
            <a:ext cx="484632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B767C"/>
                </a:solidFill>
              </a:defRPr>
            </a:lvl1pPr>
          </a:lstStyle>
          <a:p>
            <a:pPr/>
            <a:r>
              <a:t>Les use cases les appellent à travers un port quand ils ont besoin de l'extérieur.</a:t>
            </a:r>
          </a:p>
        </p:txBody>
      </p:sp>
      <p:graphicFrame>
        <p:nvGraphicFramePr>
          <p:cNvPr id="340" name="Table 0"/>
          <p:cNvGraphicFramePr/>
          <p:nvPr/>
        </p:nvGraphicFramePr>
        <p:xfrm>
          <a:off x="3840479" y="1828800"/>
          <a:ext cx="4846321" cy="256032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286000"/>
                <a:gridCol w="1691640"/>
                <a:gridCol w="868680"/>
              </a:tblGrid>
              <a:tr h="365760">
                <a:tc>
                  <a:txBody>
                    <a:bodyPr/>
                    <a:lstStyle/>
                    <a:p>
                      <a:pPr algn="l">
                        <a:defRPr sz="1800"/>
                      </a:pPr>
                      <a:r>
                        <a:rPr sz="800">
                          <a:solidFill>
                            <a:srgbClr val="FFFFFF"/>
                          </a:solidFill>
                          <a:latin typeface="Cambria"/>
                          <a:ea typeface="Cambria"/>
                          <a:cs typeface="Cambria"/>
                          <a:sym typeface="Cambria"/>
                        </a:rPr>
                        <a:t>Port</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2F5D50"/>
                    </a:solidFill>
                  </a:tcPr>
                </a:tc>
                <a:tc>
                  <a:txBody>
                    <a:bodyPr/>
                    <a:lstStyle/>
                    <a:p>
                      <a:pPr algn="l">
                        <a:defRPr sz="1800"/>
                      </a:pPr>
                      <a:r>
                        <a:rPr sz="800">
                          <a:solidFill>
                            <a:srgbClr val="FFFFFF"/>
                          </a:solidFill>
                          <a:latin typeface="Cambria"/>
                          <a:ea typeface="Cambria"/>
                          <a:cs typeface="Cambria"/>
                          <a:sym typeface="Cambria"/>
                        </a:rPr>
                        <a:t>Adaptateur</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2F5D50"/>
                    </a:solidFill>
                  </a:tcPr>
                </a:tc>
                <a:tc>
                  <a:txBody>
                    <a:bodyPr/>
                    <a:lstStyle/>
                    <a:p>
                      <a:pPr algn="l">
                        <a:defRPr sz="1800"/>
                      </a:pPr>
                      <a:r>
                        <a:rPr sz="800">
                          <a:solidFill>
                            <a:srgbClr val="FFFFFF"/>
                          </a:solidFill>
                          <a:latin typeface="Cambria"/>
                          <a:ea typeface="Cambria"/>
                          <a:cs typeface="Cambria"/>
                          <a:sym typeface="Cambria"/>
                        </a:rPr>
                        <a:t>Vers</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2F5D50"/>
                    </a:solidFill>
                  </a:tcPr>
                </a:tc>
              </a:tr>
              <a:tr h="365760">
                <a:tc>
                  <a:txBody>
                    <a:bodyPr/>
                    <a:lstStyle/>
                    <a:p>
                      <a:pPr algn="l">
                        <a:defRPr sz="1800"/>
                      </a:pPr>
                      <a:r>
                        <a:rPr b="1" sz="800">
                          <a:solidFill>
                            <a:srgbClr val="1F2A30"/>
                          </a:solidFill>
                          <a:latin typeface="Courier New"/>
                          <a:ea typeface="Courier New"/>
                          <a:cs typeface="Courier New"/>
                          <a:sym typeface="Courier New"/>
                        </a:rPr>
                        <a:t>CompteRepositoryInterface</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l">
                        <a:defRPr sz="1800"/>
                      </a:pPr>
                      <a:r>
                        <a:rPr sz="800">
                          <a:solidFill>
                            <a:srgbClr val="22292D"/>
                          </a:solidFill>
                          <a:latin typeface="Courier New"/>
                          <a:ea typeface="Courier New"/>
                          <a:cs typeface="Courier New"/>
                          <a:sym typeface="Courier New"/>
                        </a:rPr>
                        <a:t>PdoCompteRepository</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l">
                        <a:defRPr sz="1800"/>
                      </a:pPr>
                      <a:r>
                        <a:rPr sz="800">
                          <a:solidFill>
                            <a:srgbClr val="22292D"/>
                          </a:solidFill>
                        </a:rPr>
                        <a:t>MySQL</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r>
              <a:tr h="365760">
                <a:tc>
                  <a:txBody>
                    <a:bodyPr/>
                    <a:lstStyle/>
                    <a:p>
                      <a:pPr algn="l">
                        <a:defRPr sz="1800"/>
                      </a:pPr>
                      <a:r>
                        <a:rPr b="1" sz="800">
                          <a:solidFill>
                            <a:srgbClr val="1F2A30"/>
                          </a:solidFill>
                          <a:latin typeface="Courier New"/>
                          <a:ea typeface="Courier New"/>
                          <a:cs typeface="Courier New"/>
                          <a:sym typeface="Courier New"/>
                        </a:rPr>
                        <a:t>ClientRepositoryInterface</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l">
                        <a:defRPr sz="1800"/>
                      </a:pPr>
                      <a:r>
                        <a:rPr sz="800">
                          <a:solidFill>
                            <a:srgbClr val="22292D"/>
                          </a:solidFill>
                          <a:latin typeface="Courier New"/>
                          <a:ea typeface="Courier New"/>
                          <a:cs typeface="Courier New"/>
                          <a:sym typeface="Courier New"/>
                        </a:rPr>
                        <a:t>PdoClientRepository</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l">
                        <a:defRPr sz="1800"/>
                      </a:pPr>
                      <a:r>
                        <a:rPr sz="800">
                          <a:solidFill>
                            <a:srgbClr val="22292D"/>
                          </a:solidFill>
                        </a:rPr>
                        <a:t>MySQL</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r>
              <a:tr h="365760">
                <a:tc>
                  <a:txBody>
                    <a:bodyPr/>
                    <a:lstStyle/>
                    <a:p>
                      <a:pPr algn="l">
                        <a:defRPr sz="1800"/>
                      </a:pPr>
                      <a:r>
                        <a:rPr b="1" sz="800">
                          <a:solidFill>
                            <a:srgbClr val="1F2A30"/>
                          </a:solidFill>
                          <a:latin typeface="Courier New"/>
                          <a:ea typeface="Courier New"/>
                          <a:cs typeface="Courier New"/>
                          <a:sym typeface="Courier New"/>
                        </a:rPr>
                        <a:t>TransactionRepositoryInterface</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l">
                        <a:defRPr sz="1800"/>
                      </a:pPr>
                      <a:r>
                        <a:rPr sz="800">
                          <a:solidFill>
                            <a:srgbClr val="22292D"/>
                          </a:solidFill>
                          <a:latin typeface="Courier New"/>
                          <a:ea typeface="Courier New"/>
                          <a:cs typeface="Courier New"/>
                          <a:sym typeface="Courier New"/>
                        </a:rPr>
                        <a:t>PdoTransactionRepository</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l">
                        <a:defRPr sz="1800"/>
                      </a:pPr>
                      <a:r>
                        <a:rPr sz="800">
                          <a:solidFill>
                            <a:srgbClr val="22292D"/>
                          </a:solidFill>
                        </a:rPr>
                        <a:t>MySQL</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r>
              <a:tr h="365760">
                <a:tc>
                  <a:txBody>
                    <a:bodyPr/>
                    <a:lstStyle/>
                    <a:p>
                      <a:pPr algn="l">
                        <a:defRPr sz="1800"/>
                      </a:pPr>
                      <a:r>
                        <a:rPr b="1" sz="800">
                          <a:solidFill>
                            <a:srgbClr val="1F2A30"/>
                          </a:solidFill>
                          <a:latin typeface="Courier New"/>
                          <a:ea typeface="Courier New"/>
                          <a:cs typeface="Courier New"/>
                          <a:sym typeface="Courier New"/>
                        </a:rPr>
                        <a:t>UserRepositoryInterface</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l">
                        <a:defRPr sz="1800"/>
                      </a:pPr>
                      <a:r>
                        <a:rPr sz="800">
                          <a:solidFill>
                            <a:srgbClr val="22292D"/>
                          </a:solidFill>
                          <a:latin typeface="Courier New"/>
                          <a:ea typeface="Courier New"/>
                          <a:cs typeface="Courier New"/>
                          <a:sym typeface="Courier New"/>
                        </a:rPr>
                        <a:t>PdoUserRepository</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l">
                        <a:defRPr sz="1800"/>
                      </a:pPr>
                      <a:r>
                        <a:rPr sz="800">
                          <a:solidFill>
                            <a:srgbClr val="22292D"/>
                          </a:solidFill>
                        </a:rPr>
                        <a:t>MySQL</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r>
              <a:tr h="365760">
                <a:tc>
                  <a:txBody>
                    <a:bodyPr/>
                    <a:lstStyle/>
                    <a:p>
                      <a:pPr algn="l">
                        <a:defRPr sz="1800"/>
                      </a:pPr>
                      <a:r>
                        <a:rPr b="1" sz="800">
                          <a:solidFill>
                            <a:srgbClr val="1F2A30"/>
                          </a:solidFill>
                          <a:latin typeface="Courier New"/>
                          <a:ea typeface="Courier New"/>
                          <a:cs typeface="Courier New"/>
                          <a:sym typeface="Courier New"/>
                        </a:rPr>
                        <a:t>CompteServiceClientInterface</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l">
                        <a:defRPr sz="1800"/>
                      </a:pPr>
                      <a:r>
                        <a:rPr sz="800">
                          <a:solidFill>
                            <a:srgbClr val="22292D"/>
                          </a:solidFill>
                          <a:latin typeface="Courier New"/>
                          <a:ea typeface="Courier New"/>
                          <a:cs typeface="Courier New"/>
                          <a:sym typeface="Courier New"/>
                        </a:rPr>
                        <a:t>HttpCompteServiceClient</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c>
                  <a:txBody>
                    <a:bodyPr/>
                    <a:lstStyle/>
                    <a:p>
                      <a:pPr algn="l">
                        <a:defRPr sz="1800"/>
                      </a:pPr>
                      <a:r>
                        <a:rPr sz="800">
                          <a:solidFill>
                            <a:srgbClr val="22292D"/>
                          </a:solidFill>
                        </a:rPr>
                        <a:t>Service Compte</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FFFFFF"/>
                    </a:solidFill>
                  </a:tcPr>
                </a:tc>
              </a:tr>
              <a:tr h="365760">
                <a:tc>
                  <a:txBody>
                    <a:bodyPr/>
                    <a:lstStyle/>
                    <a:p>
                      <a:pPr algn="l">
                        <a:defRPr sz="1800"/>
                      </a:pPr>
                      <a:r>
                        <a:rPr b="1" sz="800">
                          <a:solidFill>
                            <a:srgbClr val="1F2A30"/>
                          </a:solidFill>
                          <a:latin typeface="Courier New"/>
                          <a:ea typeface="Courier New"/>
                          <a:cs typeface="Courier New"/>
                          <a:sym typeface="Courier New"/>
                        </a:rPr>
                        <a:t>JwtGeneratorInterface</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l">
                        <a:defRPr sz="1800"/>
                      </a:pPr>
                      <a:r>
                        <a:rPr sz="800">
                          <a:solidFill>
                            <a:srgbClr val="22292D"/>
                          </a:solidFill>
                          <a:latin typeface="Courier New"/>
                          <a:ea typeface="Courier New"/>
                          <a:cs typeface="Courier New"/>
                          <a:sym typeface="Courier New"/>
                        </a:rPr>
                        <a:t>FirebaseJwtGenerator</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c>
                  <a:txBody>
                    <a:bodyPr/>
                    <a:lstStyle/>
                    <a:p>
                      <a:pPr algn="l">
                        <a:defRPr sz="1800"/>
                      </a:pPr>
                      <a:r>
                        <a:rPr sz="800">
                          <a:solidFill>
                            <a:srgbClr val="22292D"/>
                          </a:solidFill>
                        </a:rPr>
                        <a:t>Jeton JWT</a:t>
                      </a:r>
                    </a:p>
                  </a:txBody>
                  <a:tcPr marL="25400" marR="25400" marT="25400" marB="25400" anchor="ctr" anchorCtr="0" horzOverflow="overflow">
                    <a:lnL w="6350">
                      <a:solidFill>
                        <a:srgbClr val="C7DBD3"/>
                      </a:solidFill>
                    </a:lnL>
                    <a:lnR w="6350">
                      <a:solidFill>
                        <a:srgbClr val="C7DBD3"/>
                      </a:solidFill>
                    </a:lnR>
                    <a:lnT w="6350">
                      <a:solidFill>
                        <a:srgbClr val="C7DBD3"/>
                      </a:solidFill>
                    </a:lnT>
                    <a:lnB w="6350">
                      <a:solidFill>
                        <a:srgbClr val="C7DBD3"/>
                      </a:solidFill>
                    </a:lnB>
                    <a:solidFill>
                      <a:srgbClr val="EAF2EF"/>
                    </a:solidFill>
                  </a:tcPr>
                </a:tc>
              </a:tr>
            </a:tbl>
          </a:graphicData>
        </a:graphic>
      </p:graphicFrame>
      <p:sp>
        <p:nvSpPr>
          <p:cNvPr id="341" name="Slide Number Placeholder 0"/>
          <p:cNvSpPr txBox="1"/>
          <p:nvPr>
            <p:ph type="sldNum" sz="quarter" idx="4294967295"/>
          </p:nvPr>
        </p:nvSpPr>
        <p:spPr>
          <a:xfrm>
            <a:off x="8479670" y="4818888"/>
            <a:ext cx="207131" cy="19601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5" name="Text 0"/>
          <p:cNvSpPr txBox="1"/>
          <p:nvPr/>
        </p:nvSpPr>
        <p:spPr>
          <a:xfrm>
            <a:off x="457200" y="256031"/>
            <a:ext cx="3657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00" sz="900">
                <a:solidFill>
                  <a:srgbClr val="B8672E"/>
                </a:solidFill>
              </a:defRPr>
            </a:lvl1pPr>
          </a:lstStyle>
          <a:p>
            <a:pPr/>
            <a:r>
              <a:t>ESPRIT CRITIQUE</a:t>
            </a:r>
          </a:p>
        </p:txBody>
      </p:sp>
      <p:sp>
        <p:nvSpPr>
          <p:cNvPr id="346" name="Text 1"/>
          <p:cNvSpPr txBox="1"/>
          <p:nvPr/>
        </p:nvSpPr>
        <p:spPr>
          <a:xfrm>
            <a:off x="457200" y="530859"/>
            <a:ext cx="822960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400">
                <a:solidFill>
                  <a:srgbClr val="1F2A30"/>
                </a:solidFill>
                <a:latin typeface="Cambria"/>
                <a:ea typeface="Cambria"/>
                <a:cs typeface="Cambria"/>
                <a:sym typeface="Cambria"/>
              </a:defRPr>
            </a:lvl1pPr>
          </a:lstStyle>
          <a:p>
            <a:pPr/>
            <a:r>
              <a:t>Esprit critique</a:t>
            </a:r>
          </a:p>
        </p:txBody>
      </p:sp>
      <p:sp>
        <p:nvSpPr>
          <p:cNvPr id="347" name="Text 2"/>
          <p:cNvSpPr txBox="1"/>
          <p:nvPr/>
        </p:nvSpPr>
        <p:spPr>
          <a:xfrm>
            <a:off x="457200" y="4846320"/>
            <a:ext cx="64008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6B767C"/>
                </a:solidFill>
              </a:defRPr>
            </a:lvl1pPr>
          </a:lstStyle>
          <a:p>
            <a:pPr/>
            <a:r>
              <a:t>Application bancaire multi-services · Architecture hexagonale</a:t>
            </a:r>
          </a:p>
        </p:txBody>
      </p:sp>
      <p:sp>
        <p:nvSpPr>
          <p:cNvPr id="348" name="Text 16"/>
          <p:cNvSpPr txBox="1"/>
          <p:nvPr/>
        </p:nvSpPr>
        <p:spPr>
          <a:xfrm>
            <a:off x="466252" y="1034286"/>
            <a:ext cx="393192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B8672E"/>
                </a:solidFill>
                <a:latin typeface="Cambria"/>
                <a:ea typeface="Cambria"/>
                <a:cs typeface="Cambria"/>
                <a:sym typeface="Cambria"/>
              </a:defRPr>
            </a:lvl1pPr>
          </a:lstStyle>
          <a:p>
            <a:pPr/>
            <a:r>
              <a:t>Ce que aurions pu améliorer</a:t>
            </a:r>
          </a:p>
        </p:txBody>
      </p:sp>
      <p:sp>
        <p:nvSpPr>
          <p:cNvPr id="349" name="Shape 17"/>
          <p:cNvSpPr/>
          <p:nvPr/>
        </p:nvSpPr>
        <p:spPr>
          <a:xfrm>
            <a:off x="466252" y="1445766"/>
            <a:ext cx="3931921" cy="841249"/>
          </a:xfrm>
          <a:prstGeom prst="rect">
            <a:avLst/>
          </a:prstGeom>
          <a:solidFill>
            <a:srgbClr val="F6EEE7"/>
          </a:solidFill>
          <a:ln w="12700">
            <a:solidFill>
              <a:srgbClr val="F6EEE7"/>
            </a:solidFill>
          </a:ln>
        </p:spPr>
        <p:txBody>
          <a:bodyPr lIns="45719" rIns="45719"/>
          <a:lstStyle/>
          <a:p>
            <a:pPr/>
          </a:p>
        </p:txBody>
      </p:sp>
      <p:sp>
        <p:nvSpPr>
          <p:cNvPr id="350" name="Text 18"/>
          <p:cNvSpPr txBox="1"/>
          <p:nvPr/>
        </p:nvSpPr>
        <p:spPr>
          <a:xfrm>
            <a:off x="603412" y="1518918"/>
            <a:ext cx="36576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1F2A30"/>
                </a:solidFill>
                <a:latin typeface="Cambria"/>
                <a:ea typeface="Cambria"/>
                <a:cs typeface="Cambria"/>
                <a:sym typeface="Cambria"/>
              </a:defRPr>
            </a:lvl1pPr>
          </a:lstStyle>
          <a:p>
            <a:pPr/>
            <a:r>
              <a:t>Une base de données par service</a:t>
            </a:r>
          </a:p>
        </p:txBody>
      </p:sp>
      <p:sp>
        <p:nvSpPr>
          <p:cNvPr id="351" name="Text 19"/>
          <p:cNvSpPr txBox="1"/>
          <p:nvPr/>
        </p:nvSpPr>
        <p:spPr>
          <a:xfrm>
            <a:off x="603412" y="1829815"/>
            <a:ext cx="36576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2292D"/>
                </a:solidFill>
              </a:defRPr>
            </a:lvl1pPr>
          </a:lstStyle>
          <a:p>
            <a:pPr/>
            <a:r>
              <a:t>Les services partagent aujourd'hui une même base MySQL.</a:t>
            </a:r>
          </a:p>
        </p:txBody>
      </p:sp>
      <p:sp>
        <p:nvSpPr>
          <p:cNvPr id="352" name="Slide Number Placeholder 0"/>
          <p:cNvSpPr txBox="1"/>
          <p:nvPr>
            <p:ph type="sldNum" sz="quarter" idx="4294967295"/>
          </p:nvPr>
        </p:nvSpPr>
        <p:spPr>
          <a:xfrm>
            <a:off x="8479670" y="4818888"/>
            <a:ext cx="207131" cy="19601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53" name="Shape 17"/>
          <p:cNvSpPr/>
          <p:nvPr/>
        </p:nvSpPr>
        <p:spPr>
          <a:xfrm>
            <a:off x="466252" y="2562760"/>
            <a:ext cx="3931921" cy="1158966"/>
          </a:xfrm>
          <a:prstGeom prst="rect">
            <a:avLst/>
          </a:prstGeom>
          <a:solidFill>
            <a:srgbClr val="F6EEE7"/>
          </a:solidFill>
          <a:ln w="12700">
            <a:solidFill>
              <a:srgbClr val="F6EEE7"/>
            </a:solidFill>
          </a:ln>
        </p:spPr>
        <p:txBody>
          <a:bodyPr lIns="45719" rIns="45719"/>
          <a:lstStyle/>
          <a:p>
            <a:pPr/>
          </a:p>
        </p:txBody>
      </p:sp>
      <p:sp>
        <p:nvSpPr>
          <p:cNvPr id="354" name="Text 18"/>
          <p:cNvSpPr txBox="1"/>
          <p:nvPr/>
        </p:nvSpPr>
        <p:spPr>
          <a:xfrm>
            <a:off x="603412" y="2635912"/>
            <a:ext cx="3657601" cy="1422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1F2A30"/>
                </a:solidFill>
                <a:latin typeface="Cambria"/>
                <a:ea typeface="Cambria"/>
                <a:cs typeface="Cambria"/>
                <a:sym typeface="Cambria"/>
              </a:defRPr>
            </a:pPr>
            <a:r>
              <a:t>Le projet manque de contenu pour se rendre compte de</a:t>
            </a:r>
            <a:br/>
            <a:r>
              <a:t>la pertinence de l’Hexagonale</a:t>
            </a:r>
            <a:br/>
            <a:br/>
            <a:r>
              <a:t>Un simple Model - Contrôler avec une interface entre deux aurais largement suffit pour 5 méthodes</a:t>
            </a:r>
            <a:br/>
            <a:br>
              <a:rPr>
                <a:solidFill>
                  <a:srgbClr val="2C2D32"/>
                </a:solidFill>
              </a:rPr>
            </a:br>
            <a:endParaRPr>
              <a:solidFill>
                <a:srgbClr val="2C2D32"/>
              </a:solidFill>
            </a:endParaRP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8" name="Text 0"/>
          <p:cNvSpPr txBox="1"/>
          <p:nvPr/>
        </p:nvSpPr>
        <p:spPr>
          <a:xfrm>
            <a:off x="457200" y="256031"/>
            <a:ext cx="3657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00" sz="900">
                <a:solidFill>
                  <a:srgbClr val="B8672E"/>
                </a:solidFill>
              </a:defRPr>
            </a:lvl1pPr>
          </a:lstStyle>
          <a:p>
            <a:pPr/>
            <a:r>
              <a:t>DÉMO</a:t>
            </a:r>
          </a:p>
        </p:txBody>
      </p:sp>
      <p:sp>
        <p:nvSpPr>
          <p:cNvPr id="359" name="Text 1"/>
          <p:cNvSpPr txBox="1"/>
          <p:nvPr/>
        </p:nvSpPr>
        <p:spPr>
          <a:xfrm>
            <a:off x="457200" y="530859"/>
            <a:ext cx="822960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400">
                <a:solidFill>
                  <a:srgbClr val="1F2A30"/>
                </a:solidFill>
                <a:latin typeface="Cambria"/>
                <a:ea typeface="Cambria"/>
                <a:cs typeface="Cambria"/>
                <a:sym typeface="Cambria"/>
              </a:defRPr>
            </a:lvl1pPr>
          </a:lstStyle>
          <a:p>
            <a:pPr/>
            <a:r>
              <a:t>Démo</a:t>
            </a:r>
          </a:p>
        </p:txBody>
      </p:sp>
      <p:sp>
        <p:nvSpPr>
          <p:cNvPr id="360" name="Text 2"/>
          <p:cNvSpPr txBox="1"/>
          <p:nvPr/>
        </p:nvSpPr>
        <p:spPr>
          <a:xfrm>
            <a:off x="457200" y="4846320"/>
            <a:ext cx="64008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6B767C"/>
                </a:solidFill>
              </a:defRPr>
            </a:lvl1pPr>
          </a:lstStyle>
          <a:p>
            <a:pPr/>
            <a:r>
              <a:t>Application bancaire multi-services · Architecture hexagonale</a:t>
            </a:r>
          </a:p>
        </p:txBody>
      </p:sp>
      <p:sp>
        <p:nvSpPr>
          <p:cNvPr id="361" name="Text 3"/>
          <p:cNvSpPr txBox="1"/>
          <p:nvPr/>
        </p:nvSpPr>
        <p:spPr>
          <a:xfrm>
            <a:off x="548640" y="1143000"/>
            <a:ext cx="411481"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F5D50"/>
                </a:solidFill>
                <a:latin typeface="Cambria"/>
                <a:ea typeface="Cambria"/>
                <a:cs typeface="Cambria"/>
                <a:sym typeface="Cambria"/>
              </a:defRPr>
            </a:lvl1pPr>
          </a:lstStyle>
          <a:p>
            <a:pPr/>
            <a:r>
              <a:t>1</a:t>
            </a:r>
          </a:p>
        </p:txBody>
      </p:sp>
      <p:sp>
        <p:nvSpPr>
          <p:cNvPr id="362" name="Text 4"/>
          <p:cNvSpPr txBox="1"/>
          <p:nvPr/>
        </p:nvSpPr>
        <p:spPr>
          <a:xfrm>
            <a:off x="1051559" y="1258632"/>
            <a:ext cx="749808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1F2A30"/>
                </a:solidFill>
              </a:defRPr>
            </a:lvl1pPr>
          </a:lstStyle>
          <a:p>
            <a:pPr/>
            <a:r>
              <a:t>Connexion sur le front (port 3000)</a:t>
            </a:r>
          </a:p>
        </p:txBody>
      </p:sp>
      <p:sp>
        <p:nvSpPr>
          <p:cNvPr id="363" name="Text 5"/>
          <p:cNvSpPr txBox="1"/>
          <p:nvPr/>
        </p:nvSpPr>
        <p:spPr>
          <a:xfrm>
            <a:off x="548640" y="1691639"/>
            <a:ext cx="41148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F5D50"/>
                </a:solidFill>
                <a:latin typeface="Cambria"/>
                <a:ea typeface="Cambria"/>
                <a:cs typeface="Cambria"/>
                <a:sym typeface="Cambria"/>
              </a:defRPr>
            </a:lvl1pPr>
          </a:lstStyle>
          <a:p>
            <a:pPr/>
            <a:r>
              <a:t>2</a:t>
            </a:r>
          </a:p>
        </p:txBody>
      </p:sp>
      <p:sp>
        <p:nvSpPr>
          <p:cNvPr id="364" name="Text 6"/>
          <p:cNvSpPr txBox="1"/>
          <p:nvPr/>
        </p:nvSpPr>
        <p:spPr>
          <a:xfrm>
            <a:off x="1051559" y="1807272"/>
            <a:ext cx="749808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1F2A30"/>
                </a:solidFill>
              </a:defRPr>
            </a:lvl1pPr>
          </a:lstStyle>
          <a:p>
            <a:pPr/>
            <a:r>
              <a:t>Création d'un client puis de deux comptes</a:t>
            </a:r>
          </a:p>
        </p:txBody>
      </p:sp>
      <p:sp>
        <p:nvSpPr>
          <p:cNvPr id="365" name="Text 7"/>
          <p:cNvSpPr txBox="1"/>
          <p:nvPr/>
        </p:nvSpPr>
        <p:spPr>
          <a:xfrm>
            <a:off x="548640" y="2240279"/>
            <a:ext cx="41148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F5D50"/>
                </a:solidFill>
                <a:latin typeface="Cambria"/>
                <a:ea typeface="Cambria"/>
                <a:cs typeface="Cambria"/>
                <a:sym typeface="Cambria"/>
              </a:defRPr>
            </a:lvl1pPr>
          </a:lstStyle>
          <a:p>
            <a:pPr/>
            <a:r>
              <a:t>3</a:t>
            </a:r>
          </a:p>
        </p:txBody>
      </p:sp>
      <p:sp>
        <p:nvSpPr>
          <p:cNvPr id="366" name="Text 8"/>
          <p:cNvSpPr txBox="1"/>
          <p:nvPr/>
        </p:nvSpPr>
        <p:spPr>
          <a:xfrm>
            <a:off x="1051559" y="2355912"/>
            <a:ext cx="749808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1F2A30"/>
                </a:solidFill>
              </a:defRPr>
            </a:lvl1pPr>
          </a:lstStyle>
          <a:p>
            <a:pPr/>
            <a:r>
              <a:t>Dépôt sur le premier compte</a:t>
            </a:r>
          </a:p>
        </p:txBody>
      </p:sp>
      <p:sp>
        <p:nvSpPr>
          <p:cNvPr id="367" name="Text 9"/>
          <p:cNvSpPr txBox="1"/>
          <p:nvPr/>
        </p:nvSpPr>
        <p:spPr>
          <a:xfrm>
            <a:off x="548640" y="2788920"/>
            <a:ext cx="41148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B8672E"/>
                </a:solidFill>
                <a:latin typeface="Cambria"/>
                <a:ea typeface="Cambria"/>
                <a:cs typeface="Cambria"/>
                <a:sym typeface="Cambria"/>
              </a:defRPr>
            </a:lvl1pPr>
          </a:lstStyle>
          <a:p>
            <a:pPr/>
            <a:r>
              <a:t>4</a:t>
            </a:r>
          </a:p>
        </p:txBody>
      </p:sp>
      <p:sp>
        <p:nvSpPr>
          <p:cNvPr id="368" name="Text 10"/>
          <p:cNvSpPr txBox="1"/>
          <p:nvPr/>
        </p:nvSpPr>
        <p:spPr>
          <a:xfrm>
            <a:off x="1051559" y="2904552"/>
            <a:ext cx="749808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1F2A30"/>
                </a:solidFill>
              </a:defRPr>
            </a:lvl1pPr>
          </a:lstStyle>
          <a:p>
            <a:pPr/>
            <a:r>
              <a:t>Virement réussi : la transaction passe en COMPLETED</a:t>
            </a:r>
          </a:p>
        </p:txBody>
      </p:sp>
      <p:sp>
        <p:nvSpPr>
          <p:cNvPr id="369" name="Text 11"/>
          <p:cNvSpPr txBox="1"/>
          <p:nvPr/>
        </p:nvSpPr>
        <p:spPr>
          <a:xfrm>
            <a:off x="548640" y="3337559"/>
            <a:ext cx="41148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B8672E"/>
                </a:solidFill>
                <a:latin typeface="Cambria"/>
                <a:ea typeface="Cambria"/>
                <a:cs typeface="Cambria"/>
                <a:sym typeface="Cambria"/>
              </a:defRPr>
            </a:lvl1pPr>
          </a:lstStyle>
          <a:p>
            <a:pPr/>
            <a:r>
              <a:t>5</a:t>
            </a:r>
          </a:p>
        </p:txBody>
      </p:sp>
      <p:sp>
        <p:nvSpPr>
          <p:cNvPr id="370" name="Text 12"/>
          <p:cNvSpPr txBox="1"/>
          <p:nvPr/>
        </p:nvSpPr>
        <p:spPr>
          <a:xfrm>
            <a:off x="1051559" y="3453192"/>
            <a:ext cx="749808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1F2A30"/>
                </a:solidFill>
              </a:defRPr>
            </a:lvl1pPr>
          </a:lstStyle>
          <a:p>
            <a:pPr/>
            <a:r>
              <a:t>Virement avec un solde insuffisant : FAILED et erreur 400</a:t>
            </a:r>
          </a:p>
        </p:txBody>
      </p:sp>
      <p:sp>
        <p:nvSpPr>
          <p:cNvPr id="371" name="Text 13"/>
          <p:cNvSpPr txBox="1"/>
          <p:nvPr/>
        </p:nvSpPr>
        <p:spPr>
          <a:xfrm>
            <a:off x="548640" y="3886200"/>
            <a:ext cx="411481"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B8672E"/>
                </a:solidFill>
                <a:latin typeface="Cambria"/>
                <a:ea typeface="Cambria"/>
                <a:cs typeface="Cambria"/>
                <a:sym typeface="Cambria"/>
              </a:defRPr>
            </a:lvl1pPr>
          </a:lstStyle>
          <a:p>
            <a:pPr/>
            <a:r>
              <a:t>6</a:t>
            </a:r>
          </a:p>
        </p:txBody>
      </p:sp>
      <p:sp>
        <p:nvSpPr>
          <p:cNvPr id="372" name="Text 14"/>
          <p:cNvSpPr txBox="1"/>
          <p:nvPr/>
        </p:nvSpPr>
        <p:spPr>
          <a:xfrm>
            <a:off x="1051559" y="4001832"/>
            <a:ext cx="749808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1F2A30"/>
                </a:solidFill>
              </a:defRPr>
            </a:lvl1pPr>
          </a:lstStyle>
          <a:p>
            <a:pPr/>
            <a:r>
              <a:t>Journal de la Gateway et tables dans phpMyAdmin</a:t>
            </a:r>
          </a:p>
        </p:txBody>
      </p:sp>
      <p:sp>
        <p:nvSpPr>
          <p:cNvPr id="373" name="Slide Number Placeholder 0"/>
          <p:cNvSpPr txBox="1"/>
          <p:nvPr>
            <p:ph type="sldNum" sz="quarter" idx="4294967295"/>
          </p:nvPr>
        </p:nvSpPr>
        <p:spPr>
          <a:xfrm>
            <a:off x="8479670" y="4818888"/>
            <a:ext cx="207131" cy="19601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